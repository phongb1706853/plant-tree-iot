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73" r:id="rId3"/>
    <p:sldId id="274" r:id="rId4"/>
    <p:sldId id="257" r:id="rId5"/>
    <p:sldId id="258" r:id="rId6"/>
    <p:sldId id="259" r:id="rId7"/>
    <p:sldId id="260" r:id="rId8"/>
    <p:sldId id="261" r:id="rId9"/>
    <p:sldId id="280" r:id="rId10"/>
    <p:sldId id="277" r:id="rId11"/>
    <p:sldId id="279" r:id="rId12"/>
    <p:sldId id="262" r:id="rId13"/>
    <p:sldId id="263" r:id="rId14"/>
    <p:sldId id="275" r:id="rId15"/>
    <p:sldId id="264" r:id="rId16"/>
    <p:sldId id="276" r:id="rId17"/>
    <p:sldId id="266" r:id="rId18"/>
    <p:sldId id="267" r:id="rId19"/>
    <p:sldId id="268" r:id="rId20"/>
    <p:sldId id="269" r:id="rId21"/>
    <p:sldId id="281" r:id="rId22"/>
    <p:sldId id="270" r:id="rId23"/>
    <p:sldId id="271" r:id="rId24"/>
    <p:sldId id="282" r:id="rId25"/>
    <p:sldId id="272" r:id="rId26"/>
  </p:sldIdLst>
  <p:sldSz cx="18288000" cy="10287000"/>
  <p:notesSz cx="6858000" cy="9144000"/>
  <p:embeddedFontLs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Montserrat" panose="00000500000000000000" pitchFamily="2" charset="0"/>
      <p:regular r:id="rId32"/>
      <p:bold r:id="rId33"/>
      <p:italic r:id="rId34"/>
      <p:boldItalic r:id="rId35"/>
    </p:embeddedFont>
    <p:embeddedFont>
      <p:font typeface="Montserrat Bold" panose="00000800000000000000" pitchFamily="2" charset="0"/>
      <p:bold r:id="rId36"/>
    </p:embeddedFont>
    <p:embeddedFont>
      <p:font typeface="Montserrat Ultra-Bold" panose="020B0604020202020204" charset="0"/>
      <p:regular r:id="rId37"/>
    </p:embeddedFont>
    <p:embeddedFont>
      <p:font typeface="Montserrat Ultra-Bold Italics" panose="020B0604020202020204" charset="0"/>
      <p:regular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Noto Sans Bold" panose="020B0802040504020204" pitchFamily="34" charset="0"/>
      <p:bold r:id="rId43"/>
    </p:embeddedFont>
    <p:embeddedFont>
      <p:font typeface="Noto Sans Bold Italics" panose="020B0604020202020204" charset="0"/>
      <p:regular r:id="rId44"/>
    </p:embeddedFont>
    <p:embeddedFont>
      <p:font typeface="Segoe UI Emoji" panose="020B0502040204020203" pitchFamily="34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6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6E7F3-7537-436B-B804-279EFFB118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F52CE-4B78-4281-BBE0-AD4F898CC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3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Chuẩn bị trước demo:</a:t>
            </a:r>
          </a:p>
          <a:p>
            <a:r>
              <a:rPr lang="vi-VN"/>
              <a:t>- Bật server + MongoDB, kiểm tra thiết bị online (hoặc thiết bị ảo trên dashboard)</a:t>
            </a:r>
          </a:p>
          <a:p>
            <a:r>
              <a:rPr lang="vi-VN"/>
              <a:t>- Mở sẵn app/dashboard và khung chat AI</a:t>
            </a:r>
          </a:p>
          <a:p>
            <a:r>
              <a:rPr lang="vi-VN"/>
              <a:t>- Nếu dùng Quick Tunnel: URL đổi mỗi lần khởi động lại, cập nhật trước khi demo</a:t>
            </a:r>
          </a:p>
          <a:p>
            <a:r>
              <a:rPr lang="vi-VN"/>
              <a:t>- Có sẵn video quay trước để dự phòng khi mạng/tunnel lỗi</a:t>
            </a:r>
          </a:p>
          <a:p>
            <a:endParaRPr lang="vi-VN"/>
          </a:p>
          <a:p>
            <a:r>
              <a:rPr lang="vi-VN"/>
              <a:t>Phần 1 - Thủ công: chuyển sang chế độ manual trước. Nếu đang auto mà đất trên ngưỡng tắt, server sẽ tự tắt bơm ở lần telemetry kế tiếp (~10 giây).</a:t>
            </a:r>
          </a:p>
          <a:p>
            <a:r>
              <a:rPr lang="vi-VN"/>
              <a:t>Phần 2 - Auto: chuyển lại auto, đặt soil_on_pct cao hơn độ ẩm hiện tại. Nếu bơm vừa tưới xong, thời gian nghỉ (pump_cooldown_s) có thể chặn bật lại.</a:t>
            </a:r>
          </a:p>
          <a:p>
            <a:r>
              <a:rPr lang="vi-VN"/>
              <a:t>Phần 3 - AI: hỏi tình trạng cây trước, rồi ra lệnh tưới.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F52CE-4B78-4281-BBE0-AD4F898CCA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8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playwright-mcp" TargetMode="External"/><Relationship Id="rId2" Type="http://schemas.openxmlformats.org/officeDocument/2006/relationships/hyperlink" Target="https://support.atlassian.com/atlassian-ai-gateway/docs/supported-tools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25" b="-148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86207" y="3160535"/>
            <a:ext cx="14115585" cy="3978880"/>
            <a:chOff x="0" y="0"/>
            <a:chExt cx="18820780" cy="530517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8820780" cy="3677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25"/>
                </a:lnSpc>
              </a:pPr>
              <a:r>
                <a:rPr lang="en-US" sz="9028" b="1" i="1" spc="216">
                  <a:gradFill>
                    <a:gsLst>
                      <a:gs pos="0">
                        <a:srgbClr val="FFDE59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SMART</a:t>
              </a:r>
              <a:r>
                <a:rPr lang="en-US" sz="9028" b="1" i="1" spc="216">
                  <a:solidFill>
                    <a:srgbClr val="FFFFFF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 </a:t>
              </a:r>
              <a:r>
                <a:rPr lang="en-US" sz="9028" b="1" spc="216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PLANT CARE SYSTEM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606673"/>
              <a:ext cx="18820780" cy="69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3499" spc="174">
                  <a:gradFill>
                    <a:gsLst>
                      <a:gs pos="0">
                        <a:srgbClr val="FFF7AD">
                          <a:alpha val="100000"/>
                        </a:srgbClr>
                      </a:gs>
                      <a:gs pos="100000">
                        <a:srgbClr val="FFA9F9">
                          <a:alpha val="100000"/>
                        </a:srgbClr>
                      </a:gs>
                    </a:gsLst>
                    <a:lin ang="0"/>
                  </a:gradFill>
                  <a:latin typeface="Montserrat"/>
                  <a:ea typeface="Montserrat"/>
                  <a:cs typeface="Montserrat"/>
                  <a:sym typeface="Montserrat"/>
                </a:rPr>
                <a:t>Rảnh tay cây vẫn khỏe - </a:t>
              </a:r>
              <a:r>
                <a:rPr lang="en-US" sz="3499" b="1" spc="174">
                  <a:gradFill>
                    <a:gsLst>
                      <a:gs pos="0">
                        <a:srgbClr val="FFF7AD">
                          <a:alpha val="100000"/>
                        </a:srgbClr>
                      </a:gs>
                      <a:gs pos="100000">
                        <a:srgbClr val="FFA9F9">
                          <a:alpha val="100000"/>
                        </a:srgbClr>
                      </a:gs>
                    </a:gsLst>
                    <a:lin ang="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MCP SERVER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2957996" cy="881853"/>
          </a:xfrm>
          <a:custGeom>
            <a:avLst/>
            <a:gdLst/>
            <a:ahLst/>
            <a:cxnLst/>
            <a:rect l="l" t="t" r="r" b="b"/>
            <a:pathLst>
              <a:path w="2957996" h="881853">
                <a:moveTo>
                  <a:pt x="0" y="0"/>
                </a:moveTo>
                <a:lnTo>
                  <a:pt x="2957996" y="0"/>
                </a:lnTo>
                <a:lnTo>
                  <a:pt x="2957996" y="881853"/>
                </a:lnTo>
                <a:lnTo>
                  <a:pt x="0" y="881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274520" y="7368665"/>
            <a:ext cx="3738960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0097B2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Người Trình Bày - Thanh Phong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ECAC763A-EF01-9C34-81CE-F5E4E78B4F26}"/>
              </a:ext>
            </a:extLst>
          </p:cNvPr>
          <p:cNvSpPr txBox="1"/>
          <p:nvPr/>
        </p:nvSpPr>
        <p:spPr>
          <a:xfrm>
            <a:off x="1028700" y="1038225"/>
            <a:ext cx="114300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</a:rPr>
              <a:t>Nội dung</a:t>
            </a:r>
          </a:p>
        </p:txBody>
      </p:sp>
      <p:sp>
        <p:nvSpPr>
          <p:cNvPr id="3" name="Badge 1">
            <a:extLst>
              <a:ext uri="{FF2B5EF4-FFF2-40B4-BE49-F238E27FC236}">
                <a16:creationId xmlns:a16="http://schemas.microsoft.com/office/drawing/2014/main" id="{5A17EBBA-4E56-2613-F78B-D7246A159181}"/>
              </a:ext>
            </a:extLst>
          </p:cNvPr>
          <p:cNvSpPr/>
          <p:nvPr/>
        </p:nvSpPr>
        <p:spPr>
          <a:xfrm>
            <a:off x="1028700" y="2692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01</a:t>
            </a:r>
          </a:p>
        </p:txBody>
      </p:sp>
      <p:sp>
        <p:nvSpPr>
          <p:cNvPr id="4" name="Agenda 1">
            <a:extLst>
              <a:ext uri="{FF2B5EF4-FFF2-40B4-BE49-F238E27FC236}">
                <a16:creationId xmlns:a16="http://schemas.microsoft.com/office/drawing/2014/main" id="{4C3BFE98-BF9B-6EB8-0844-BF81BF920BAC}"/>
              </a:ext>
            </a:extLst>
          </p:cNvPr>
          <p:cNvSpPr txBox="1"/>
          <p:nvPr/>
        </p:nvSpPr>
        <p:spPr>
          <a:xfrm>
            <a:off x="2489200" y="2692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Bài toán</a:t>
            </a:r>
          </a:p>
        </p:txBody>
      </p:sp>
      <p:sp>
        <p:nvSpPr>
          <p:cNvPr id="5" name="Badge 2">
            <a:extLst>
              <a:ext uri="{FF2B5EF4-FFF2-40B4-BE49-F238E27FC236}">
                <a16:creationId xmlns:a16="http://schemas.microsoft.com/office/drawing/2014/main" id="{EEAD0068-4614-D8CC-49D3-8781EB32AEE2}"/>
              </a:ext>
            </a:extLst>
          </p:cNvPr>
          <p:cNvSpPr/>
          <p:nvPr/>
        </p:nvSpPr>
        <p:spPr>
          <a:xfrm>
            <a:off x="1028700" y="3835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02</a:t>
            </a:r>
          </a:p>
        </p:txBody>
      </p:sp>
      <p:sp>
        <p:nvSpPr>
          <p:cNvPr id="6" name="Agenda 2">
            <a:extLst>
              <a:ext uri="{FF2B5EF4-FFF2-40B4-BE49-F238E27FC236}">
                <a16:creationId xmlns:a16="http://schemas.microsoft.com/office/drawing/2014/main" id="{0900780F-1CE6-18D6-86F4-37897EAE99C3}"/>
              </a:ext>
            </a:extLst>
          </p:cNvPr>
          <p:cNvSpPr txBox="1"/>
          <p:nvPr/>
        </p:nvSpPr>
        <p:spPr>
          <a:xfrm>
            <a:off x="2489200" y="3835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Kiến trúc hệ thống IoT</a:t>
            </a:r>
          </a:p>
        </p:txBody>
      </p:sp>
      <p:sp>
        <p:nvSpPr>
          <p:cNvPr id="7" name="Badge 3">
            <a:extLst>
              <a:ext uri="{FF2B5EF4-FFF2-40B4-BE49-F238E27FC236}">
                <a16:creationId xmlns:a16="http://schemas.microsoft.com/office/drawing/2014/main" id="{EC89AA0A-8B81-5ADF-90E4-72F495D0EED3}"/>
              </a:ext>
            </a:extLst>
          </p:cNvPr>
          <p:cNvSpPr/>
          <p:nvPr/>
        </p:nvSpPr>
        <p:spPr>
          <a:xfrm>
            <a:off x="1028700" y="4978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03</a:t>
            </a:r>
          </a:p>
        </p:txBody>
      </p:sp>
      <p:sp>
        <p:nvSpPr>
          <p:cNvPr id="8" name="Agenda 3">
            <a:extLst>
              <a:ext uri="{FF2B5EF4-FFF2-40B4-BE49-F238E27FC236}">
                <a16:creationId xmlns:a16="http://schemas.microsoft.com/office/drawing/2014/main" id="{28483B14-5056-6423-9975-BD954E23E191}"/>
              </a:ext>
            </a:extLst>
          </p:cNvPr>
          <p:cNvSpPr txBox="1"/>
          <p:nvPr/>
        </p:nvSpPr>
        <p:spPr>
          <a:xfrm>
            <a:off x="2489200" y="4978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3600">
                <a:solidFill>
                  <a:srgbClr val="5A7745"/>
                </a:solidFill>
                <a:latin typeface="Noto Sans" panose="020B0502040504020204" pitchFamily="34" charset="0"/>
              </a:rPr>
              <a:t>Chế độ auto: tưới theo ngưỡng</a:t>
            </a:r>
            <a:endParaRPr lang="en-US" sz="3600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9" name="Badge 4">
            <a:extLst>
              <a:ext uri="{FF2B5EF4-FFF2-40B4-BE49-F238E27FC236}">
                <a16:creationId xmlns:a16="http://schemas.microsoft.com/office/drawing/2014/main" id="{3B6DEEE5-ED7C-1A09-472D-73998889DC86}"/>
              </a:ext>
            </a:extLst>
          </p:cNvPr>
          <p:cNvSpPr/>
          <p:nvPr/>
        </p:nvSpPr>
        <p:spPr>
          <a:xfrm>
            <a:off x="1028700" y="6121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04</a:t>
            </a:r>
          </a:p>
        </p:txBody>
      </p:sp>
      <p:sp>
        <p:nvSpPr>
          <p:cNvPr id="10" name="Agenda 4">
            <a:extLst>
              <a:ext uri="{FF2B5EF4-FFF2-40B4-BE49-F238E27FC236}">
                <a16:creationId xmlns:a16="http://schemas.microsoft.com/office/drawing/2014/main" id="{2D0607E0-9EA5-5792-BF41-F2AC5F6DCC5F}"/>
              </a:ext>
            </a:extLst>
          </p:cNvPr>
          <p:cNvSpPr txBox="1"/>
          <p:nvPr/>
        </p:nvSpPr>
        <p:spPr>
          <a:xfrm>
            <a:off x="2489200" y="6121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MCP Server: AI điều khiển thiết bị bằng lời nói</a:t>
            </a:r>
          </a:p>
        </p:txBody>
      </p:sp>
      <p:sp>
        <p:nvSpPr>
          <p:cNvPr id="11" name="Badge 5">
            <a:extLst>
              <a:ext uri="{FF2B5EF4-FFF2-40B4-BE49-F238E27FC236}">
                <a16:creationId xmlns:a16="http://schemas.microsoft.com/office/drawing/2014/main" id="{C2525A79-E343-2A0C-E1E5-F1A885AE0059}"/>
              </a:ext>
            </a:extLst>
          </p:cNvPr>
          <p:cNvSpPr/>
          <p:nvPr/>
        </p:nvSpPr>
        <p:spPr>
          <a:xfrm>
            <a:off x="1028700" y="7264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05</a:t>
            </a:r>
          </a:p>
        </p:txBody>
      </p:sp>
      <p:sp>
        <p:nvSpPr>
          <p:cNvPr id="12" name="Agenda 5">
            <a:extLst>
              <a:ext uri="{FF2B5EF4-FFF2-40B4-BE49-F238E27FC236}">
                <a16:creationId xmlns:a16="http://schemas.microsoft.com/office/drawing/2014/main" id="{044E3EC6-B0FA-AC40-21BB-A0C2062FBB21}"/>
              </a:ext>
            </a:extLst>
          </p:cNvPr>
          <p:cNvSpPr txBox="1"/>
          <p:nvPr/>
        </p:nvSpPr>
        <p:spPr>
          <a:xfrm>
            <a:off x="2489200" y="7264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Demo</a:t>
            </a:r>
          </a:p>
        </p:txBody>
      </p:sp>
      <p:sp>
        <p:nvSpPr>
          <p:cNvPr id="2" name="Badge 6">
            <a:extLst>
              <a:ext uri="{FF2B5EF4-FFF2-40B4-BE49-F238E27FC236}">
                <a16:creationId xmlns:a16="http://schemas.microsoft.com/office/drawing/2014/main" id="{B27DB4BA-2D6F-6167-CAC5-85D825493AD6}"/>
              </a:ext>
            </a:extLst>
          </p:cNvPr>
          <p:cNvSpPr/>
          <p:nvPr/>
        </p:nvSpPr>
        <p:spPr>
          <a:xfrm>
            <a:off x="1028700" y="840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</a:rPr>
              <a:t>06</a:t>
            </a:r>
          </a:p>
        </p:txBody>
      </p:sp>
      <p:sp>
        <p:nvSpPr>
          <p:cNvPr id="14" name="Agenda 6">
            <a:extLst>
              <a:ext uri="{FF2B5EF4-FFF2-40B4-BE49-F238E27FC236}">
                <a16:creationId xmlns:a16="http://schemas.microsoft.com/office/drawing/2014/main" id="{CC1EABAE-0351-51FF-4D79-A1F4A44903B2}"/>
              </a:ext>
            </a:extLst>
          </p:cNvPr>
          <p:cNvSpPr txBox="1"/>
          <p:nvPr/>
        </p:nvSpPr>
        <p:spPr>
          <a:xfrm>
            <a:off x="2489200" y="8407400"/>
            <a:ext cx="1473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>
                <a:solidFill>
                  <a:srgbClr val="5A7745"/>
                </a:solidFill>
                <a:latin typeface="Noto Sans" panose="020B0502040504020204" pitchFamily="34" charset="0"/>
              </a:rPr>
              <a:t>Áp dụng MCP vào công việc</a:t>
            </a:r>
          </a:p>
        </p:txBody>
      </p:sp>
    </p:spTree>
    <p:extLst>
      <p:ext uri="{BB962C8B-B14F-4D97-AF65-F5344CB8AC3E}">
        <p14:creationId xmlns:p14="http://schemas.microsoft.com/office/powerpoint/2010/main" val="336972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A89FCAAB-DD5D-36FD-D444-1BBD0744E7D1}"/>
              </a:ext>
            </a:extLst>
          </p:cNvPr>
          <p:cNvSpPr txBox="1"/>
          <p:nvPr/>
        </p:nvSpPr>
        <p:spPr>
          <a:xfrm>
            <a:off x="1028700" y="1038225"/>
            <a:ext cx="114300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</a:rPr>
              <a:t>Bài toán</a:t>
            </a:r>
          </a:p>
        </p:txBody>
      </p:sp>
      <p:sp>
        <p:nvSpPr>
          <p:cNvPr id="3" name="Tagline">
            <a:extLst>
              <a:ext uri="{FF2B5EF4-FFF2-40B4-BE49-F238E27FC236}">
                <a16:creationId xmlns:a16="http://schemas.microsoft.com/office/drawing/2014/main" id="{F9715F87-60ED-3849-78B9-D4A2F7A2CA29}"/>
              </a:ext>
            </a:extLst>
          </p:cNvPr>
          <p:cNvSpPr txBox="1"/>
          <p:nvPr/>
        </p:nvSpPr>
        <p:spPr>
          <a:xfrm>
            <a:off x="1028700" y="2540000"/>
            <a:ext cx="16230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4000" b="1" i="1">
                <a:solidFill>
                  <a:srgbClr val="6D8856"/>
                </a:solidFill>
                <a:latin typeface="Noto Sans" panose="020B0502040504020204" pitchFamily="34" charset="0"/>
              </a:rPr>
              <a:t>Cây cần nước, người thì bận</a:t>
            </a:r>
            <a:endParaRPr lang="en-US" sz="4000" b="1" i="1">
              <a:solidFill>
                <a:srgbClr val="6D8856"/>
              </a:solidFill>
              <a:latin typeface="Noto Sans" panose="020B0502040504020204" pitchFamily="34" charset="0"/>
            </a:endParaRPr>
          </a:p>
        </p:txBody>
      </p:sp>
      <p:sp>
        <p:nvSpPr>
          <p:cNvPr id="4" name="Card 1">
            <a:extLst>
              <a:ext uri="{FF2B5EF4-FFF2-40B4-BE49-F238E27FC236}">
                <a16:creationId xmlns:a16="http://schemas.microsoft.com/office/drawing/2014/main" id="{D6EAD64D-082B-960F-52E7-B4D1BF1F5F30}"/>
              </a:ext>
            </a:extLst>
          </p:cNvPr>
          <p:cNvSpPr/>
          <p:nvPr/>
        </p:nvSpPr>
        <p:spPr>
          <a:xfrm>
            <a:off x="1028700" y="3810000"/>
            <a:ext cx="5105400" cy="5080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con 1">
            <a:extLst>
              <a:ext uri="{FF2B5EF4-FFF2-40B4-BE49-F238E27FC236}">
                <a16:creationId xmlns:a16="http://schemas.microsoft.com/office/drawing/2014/main" id="{1D0C5510-D536-FC0E-C533-187132D6D4AB}"/>
              </a:ext>
            </a:extLst>
          </p:cNvPr>
          <p:cNvSpPr/>
          <p:nvPr/>
        </p:nvSpPr>
        <p:spPr>
          <a:xfrm>
            <a:off x="1435100" y="4216400"/>
            <a:ext cx="1320800" cy="13208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0">
                <a:latin typeface="Segoe UI Emoji" panose="020B0502040204020203" pitchFamily="34" charset="0"/>
              </a:rPr>
              <a:t>🥀</a:t>
            </a:r>
          </a:p>
        </p:txBody>
      </p:sp>
      <p:sp>
        <p:nvSpPr>
          <p:cNvPr id="6" name="Card 1 heading">
            <a:extLst>
              <a:ext uri="{FF2B5EF4-FFF2-40B4-BE49-F238E27FC236}">
                <a16:creationId xmlns:a16="http://schemas.microsoft.com/office/drawing/2014/main" id="{28A4674F-5696-4B4D-3868-098449C7E297}"/>
              </a:ext>
            </a:extLst>
          </p:cNvPr>
          <p:cNvSpPr txBox="1"/>
          <p:nvPr/>
        </p:nvSpPr>
        <p:spPr>
          <a:xfrm>
            <a:off x="1435100" y="59055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</a:rPr>
              <a:t>Đi vắng</a:t>
            </a:r>
          </a:p>
        </p:txBody>
      </p:sp>
      <p:sp>
        <p:nvSpPr>
          <p:cNvPr id="7" name="Card 1 body">
            <a:extLst>
              <a:ext uri="{FF2B5EF4-FFF2-40B4-BE49-F238E27FC236}">
                <a16:creationId xmlns:a16="http://schemas.microsoft.com/office/drawing/2014/main" id="{14E1C7A1-BABD-DA66-68FE-F077677FF03D}"/>
              </a:ext>
            </a:extLst>
          </p:cNvPr>
          <p:cNvSpPr txBox="1"/>
          <p:nvPr/>
        </p:nvSpPr>
        <p:spPr>
          <a:xfrm>
            <a:off x="1435100" y="6667500"/>
            <a:ext cx="42926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vi-VN" sz="2800">
                <a:solidFill>
                  <a:srgbClr val="5A7745"/>
                </a:solidFill>
                <a:latin typeface="Noto Sans" panose="020B0502040504020204" pitchFamily="34" charset="0"/>
              </a:rPr>
              <a:t>Đi công tác, đi du lịch → không ai tưới, cây héo</a:t>
            </a:r>
            <a:endParaRPr lang="en-US" sz="2800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8" name="Card 2">
            <a:extLst>
              <a:ext uri="{FF2B5EF4-FFF2-40B4-BE49-F238E27FC236}">
                <a16:creationId xmlns:a16="http://schemas.microsoft.com/office/drawing/2014/main" id="{0BCFAC23-BC1A-EC1A-6A19-795C8CB386C3}"/>
              </a:ext>
            </a:extLst>
          </p:cNvPr>
          <p:cNvSpPr/>
          <p:nvPr/>
        </p:nvSpPr>
        <p:spPr>
          <a:xfrm>
            <a:off x="6591300" y="3810000"/>
            <a:ext cx="5105400" cy="5080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con 2">
            <a:extLst>
              <a:ext uri="{FF2B5EF4-FFF2-40B4-BE49-F238E27FC236}">
                <a16:creationId xmlns:a16="http://schemas.microsoft.com/office/drawing/2014/main" id="{2AAD5461-2965-0BC9-4827-B064873F11BD}"/>
              </a:ext>
            </a:extLst>
          </p:cNvPr>
          <p:cNvSpPr/>
          <p:nvPr/>
        </p:nvSpPr>
        <p:spPr>
          <a:xfrm>
            <a:off x="6997700" y="4216400"/>
            <a:ext cx="1320800" cy="13208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0">
                <a:latin typeface="Segoe UI Emoji" panose="020B0502040204020203" pitchFamily="34" charset="0"/>
              </a:rPr>
              <a:t>💧</a:t>
            </a:r>
          </a:p>
        </p:txBody>
      </p:sp>
      <p:sp>
        <p:nvSpPr>
          <p:cNvPr id="10" name="Card 2 heading">
            <a:extLst>
              <a:ext uri="{FF2B5EF4-FFF2-40B4-BE49-F238E27FC236}">
                <a16:creationId xmlns:a16="http://schemas.microsoft.com/office/drawing/2014/main" id="{D4AA5609-903E-1CE4-741F-140FD5FDA5B5}"/>
              </a:ext>
            </a:extLst>
          </p:cNvPr>
          <p:cNvSpPr txBox="1"/>
          <p:nvPr/>
        </p:nvSpPr>
        <p:spPr>
          <a:xfrm>
            <a:off x="6997700" y="59055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vi-VN" sz="3200" b="1">
                <a:solidFill>
                  <a:srgbClr val="5A7745"/>
                </a:solidFill>
                <a:latin typeface="Noto Sans" panose="020B0502040504020204" pitchFamily="34" charset="0"/>
              </a:rPr>
              <a:t>Tưới theo cảm tính</a:t>
            </a:r>
            <a:endParaRPr lang="en-US" sz="3200" b="1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11" name="Card 2 body">
            <a:extLst>
              <a:ext uri="{FF2B5EF4-FFF2-40B4-BE49-F238E27FC236}">
                <a16:creationId xmlns:a16="http://schemas.microsoft.com/office/drawing/2014/main" id="{2EF1ACD3-D38A-6F47-E1A2-9E67BDF1134D}"/>
              </a:ext>
            </a:extLst>
          </p:cNvPr>
          <p:cNvSpPr txBox="1"/>
          <p:nvPr/>
        </p:nvSpPr>
        <p:spPr>
          <a:xfrm>
            <a:off x="6997700" y="6667500"/>
            <a:ext cx="42926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vi-VN" sz="2800">
                <a:solidFill>
                  <a:srgbClr val="5A7745"/>
                </a:solidFill>
                <a:latin typeface="Noto Sans" panose="020B0502040504020204" pitchFamily="34" charset="0"/>
              </a:rPr>
              <a:t>Lúc thiếu nước, lúc úng vì không biết độ ẩm đất</a:t>
            </a:r>
            <a:endParaRPr lang="en-US" sz="2800">
              <a:solidFill>
                <a:srgbClr val="5A7745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Card 3">
            <a:extLst>
              <a:ext uri="{FF2B5EF4-FFF2-40B4-BE49-F238E27FC236}">
                <a16:creationId xmlns:a16="http://schemas.microsoft.com/office/drawing/2014/main" id="{C36715E4-2458-2814-049B-BA73578A0526}"/>
              </a:ext>
            </a:extLst>
          </p:cNvPr>
          <p:cNvSpPr/>
          <p:nvPr/>
        </p:nvSpPr>
        <p:spPr>
          <a:xfrm>
            <a:off x="12153900" y="3810000"/>
            <a:ext cx="5105400" cy="5080000"/>
          </a:xfrm>
          <a:prstGeom prst="roundRect">
            <a:avLst>
              <a:gd name="adj" fmla="val 6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con 3">
            <a:extLst>
              <a:ext uri="{FF2B5EF4-FFF2-40B4-BE49-F238E27FC236}">
                <a16:creationId xmlns:a16="http://schemas.microsoft.com/office/drawing/2014/main" id="{64D26736-319B-7C0D-1F1E-7BEF3FE068A6}"/>
              </a:ext>
            </a:extLst>
          </p:cNvPr>
          <p:cNvSpPr/>
          <p:nvPr/>
        </p:nvSpPr>
        <p:spPr>
          <a:xfrm>
            <a:off x="12560300" y="4216400"/>
            <a:ext cx="1320800" cy="1320800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0">
                <a:latin typeface="Segoe UI Emoji" panose="020B0502040204020203" pitchFamily="34" charset="0"/>
              </a:rPr>
              <a:t>💬</a:t>
            </a:r>
          </a:p>
        </p:txBody>
      </p:sp>
      <p:sp>
        <p:nvSpPr>
          <p:cNvPr id="14" name="Card 3 heading">
            <a:extLst>
              <a:ext uri="{FF2B5EF4-FFF2-40B4-BE49-F238E27FC236}">
                <a16:creationId xmlns:a16="http://schemas.microsoft.com/office/drawing/2014/main" id="{6F8D35CE-142D-0B40-AA22-295DC4E22BFA}"/>
              </a:ext>
            </a:extLst>
          </p:cNvPr>
          <p:cNvSpPr txBox="1"/>
          <p:nvPr/>
        </p:nvSpPr>
        <p:spPr>
          <a:xfrm>
            <a:off x="12560300" y="59055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Noto Sans" panose="020B0502040504020204" pitchFamily="34" charset="0"/>
              </a:rPr>
              <a:t>Mong muốn</a:t>
            </a:r>
          </a:p>
        </p:txBody>
      </p:sp>
      <p:sp>
        <p:nvSpPr>
          <p:cNvPr id="15" name="Card 3 body">
            <a:extLst>
              <a:ext uri="{FF2B5EF4-FFF2-40B4-BE49-F238E27FC236}">
                <a16:creationId xmlns:a16="http://schemas.microsoft.com/office/drawing/2014/main" id="{5A95F813-729F-4044-695F-82E679EE21E7}"/>
              </a:ext>
            </a:extLst>
          </p:cNvPr>
          <p:cNvSpPr txBox="1"/>
          <p:nvPr/>
        </p:nvSpPr>
        <p:spPr>
          <a:xfrm>
            <a:off x="12560300" y="6667500"/>
            <a:ext cx="42926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vi-VN" sz="2800">
                <a:solidFill>
                  <a:srgbClr val="FFFFFF"/>
                </a:solidFill>
                <a:latin typeface="Noto Sans" panose="020B0502040504020204" pitchFamily="34" charset="0"/>
              </a:rPr>
              <a:t>Cây tự được chăm; xem tình trạng và ra lệnh từ xa chỉ bằng một câu nói</a:t>
            </a:r>
            <a:endParaRPr lang="en-US" sz="2800">
              <a:solidFill>
                <a:srgbClr val="FFFFFF"/>
              </a:solidFill>
              <a:latin typeface="Noto Sans" panose="020B0502040504020204" pitchFamily="34" charset="0"/>
            </a:endParaRPr>
          </a:p>
        </p:txBody>
      </p:sp>
      <p:sp>
        <p:nvSpPr>
          <p:cNvPr id="23" name="Progress seg 1">
            <a:extLst>
              <a:ext uri="{FF2B5EF4-FFF2-40B4-BE49-F238E27FC236}">
                <a16:creationId xmlns:a16="http://schemas.microsoft.com/office/drawing/2014/main" id="{86FFC285-2B0A-AC8B-CDB8-BA4466950304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rogress seg 2">
            <a:extLst>
              <a:ext uri="{FF2B5EF4-FFF2-40B4-BE49-F238E27FC236}">
                <a16:creationId xmlns:a16="http://schemas.microsoft.com/office/drawing/2014/main" id="{C0D82B39-A541-9774-5C6C-888DEB5F481C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seg 3">
            <a:extLst>
              <a:ext uri="{FF2B5EF4-FFF2-40B4-BE49-F238E27FC236}">
                <a16:creationId xmlns:a16="http://schemas.microsoft.com/office/drawing/2014/main" id="{7191963B-E3DB-8B1F-D4C8-741A90D635CB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4">
            <a:extLst>
              <a:ext uri="{FF2B5EF4-FFF2-40B4-BE49-F238E27FC236}">
                <a16:creationId xmlns:a16="http://schemas.microsoft.com/office/drawing/2014/main" id="{8E202F04-9795-CD78-3ED1-B587414C23A9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5">
            <a:extLst>
              <a:ext uri="{FF2B5EF4-FFF2-40B4-BE49-F238E27FC236}">
                <a16:creationId xmlns:a16="http://schemas.microsoft.com/office/drawing/2014/main" id="{2E84F1DA-B26C-F939-98F9-F0BB0881E2DE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6">
            <a:extLst>
              <a:ext uri="{FF2B5EF4-FFF2-40B4-BE49-F238E27FC236}">
                <a16:creationId xmlns:a16="http://schemas.microsoft.com/office/drawing/2014/main" id="{06F35C12-A3E2-F032-0F7A-A525410BC346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label">
            <a:extLst>
              <a:ext uri="{FF2B5EF4-FFF2-40B4-BE49-F238E27FC236}">
                <a16:creationId xmlns:a16="http://schemas.microsoft.com/office/drawing/2014/main" id="{C63CDD78-0B10-37A3-AF4E-BB10255E0E85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Bài toán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3 / 25</a:t>
            </a:r>
          </a:p>
        </p:txBody>
      </p:sp>
    </p:spTree>
    <p:extLst>
      <p:ext uri="{BB962C8B-B14F-4D97-AF65-F5344CB8AC3E}">
        <p14:creationId xmlns:p14="http://schemas.microsoft.com/office/powerpoint/2010/main" val="285591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8829" y="3742235"/>
            <a:ext cx="5975169" cy="5975729"/>
          </a:xfrm>
          <a:custGeom>
            <a:avLst/>
            <a:gdLst/>
            <a:ahLst/>
            <a:cxnLst/>
            <a:rect l="l" t="t" r="r" b="b"/>
            <a:pathLst>
              <a:path w="5975169" h="5975729">
                <a:moveTo>
                  <a:pt x="0" y="0"/>
                </a:moveTo>
                <a:lnTo>
                  <a:pt x="5975170" y="0"/>
                </a:lnTo>
                <a:lnTo>
                  <a:pt x="5975170" y="5975729"/>
                </a:lnTo>
                <a:lnTo>
                  <a:pt x="0" y="5975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237" t="-13017" r="-56564" b="-359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004902"/>
            <a:ext cx="8531073" cy="1583953"/>
            <a:chOff x="0" y="0"/>
            <a:chExt cx="2246867" cy="4171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46867" cy="417173"/>
            </a:xfrm>
            <a:custGeom>
              <a:avLst/>
              <a:gdLst/>
              <a:ahLst/>
              <a:cxnLst/>
              <a:rect l="l" t="t" r="r" b="b"/>
              <a:pathLst>
                <a:path w="2246867" h="417173">
                  <a:moveTo>
                    <a:pt x="16335" y="0"/>
                  </a:moveTo>
                  <a:lnTo>
                    <a:pt x="2230532" y="0"/>
                  </a:lnTo>
                  <a:cubicBezTo>
                    <a:pt x="2234864" y="0"/>
                    <a:pt x="2239019" y="1721"/>
                    <a:pt x="2242083" y="4784"/>
                  </a:cubicBezTo>
                  <a:cubicBezTo>
                    <a:pt x="2245146" y="7848"/>
                    <a:pt x="2246867" y="12003"/>
                    <a:pt x="2246867" y="16335"/>
                  </a:cubicBezTo>
                  <a:lnTo>
                    <a:pt x="2246867" y="400838"/>
                  </a:lnTo>
                  <a:cubicBezTo>
                    <a:pt x="2246867" y="405170"/>
                    <a:pt x="2245146" y="409325"/>
                    <a:pt x="2242083" y="412388"/>
                  </a:cubicBezTo>
                  <a:cubicBezTo>
                    <a:pt x="2239019" y="415452"/>
                    <a:pt x="2234864" y="417173"/>
                    <a:pt x="2230532" y="417173"/>
                  </a:cubicBezTo>
                  <a:lnTo>
                    <a:pt x="16335" y="417173"/>
                  </a:lnTo>
                  <a:cubicBezTo>
                    <a:pt x="12003" y="417173"/>
                    <a:pt x="7848" y="415452"/>
                    <a:pt x="4784" y="412388"/>
                  </a:cubicBezTo>
                  <a:cubicBezTo>
                    <a:pt x="1721" y="409325"/>
                    <a:pt x="0" y="405170"/>
                    <a:pt x="0" y="400838"/>
                  </a:cubicBezTo>
                  <a:lnTo>
                    <a:pt x="0" y="16335"/>
                  </a:lnTo>
                  <a:cubicBezTo>
                    <a:pt x="0" y="12003"/>
                    <a:pt x="1721" y="7848"/>
                    <a:pt x="4784" y="4784"/>
                  </a:cubicBezTo>
                  <a:cubicBezTo>
                    <a:pt x="7848" y="1721"/>
                    <a:pt x="12003" y="0"/>
                    <a:pt x="16335" y="0"/>
                  </a:cubicBezTo>
                  <a:close/>
                </a:path>
              </a:pathLst>
            </a:custGeom>
            <a:solidFill>
              <a:srgbClr val="5A774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46867" cy="45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1. Thiết bị IoT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   </a:t>
              </a:r>
              <a:r>
                <a:rPr lang="en-US" sz="20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Cảm biến: </a:t>
              </a: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thu nhận tín hiệu từ môi trường xung quanh</a:t>
              </a:r>
            </a:p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Bộ xử lí: </a:t>
              </a: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chuyển đổi thông số từ môi trường thành dữ liệu số 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    </a:t>
              </a:r>
              <a:r>
                <a:rPr lang="en-US" sz="20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Gửi message:</a:t>
              </a:r>
              <a:r>
                <a:rPr lang="en-US" sz="20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 đẩy dữ liệu lên MQTT để server xử lí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75703" y="2004902"/>
            <a:ext cx="7592542" cy="1605258"/>
            <a:chOff x="0" y="0"/>
            <a:chExt cx="1999682" cy="4227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99682" cy="422784"/>
            </a:xfrm>
            <a:custGeom>
              <a:avLst/>
              <a:gdLst/>
              <a:ahLst/>
              <a:cxnLst/>
              <a:rect l="l" t="t" r="r" b="b"/>
              <a:pathLst>
                <a:path w="1999682" h="422784">
                  <a:moveTo>
                    <a:pt x="18354" y="0"/>
                  </a:moveTo>
                  <a:lnTo>
                    <a:pt x="1981328" y="0"/>
                  </a:lnTo>
                  <a:cubicBezTo>
                    <a:pt x="1991464" y="0"/>
                    <a:pt x="1999682" y="8217"/>
                    <a:pt x="1999682" y="18354"/>
                  </a:cubicBezTo>
                  <a:lnTo>
                    <a:pt x="1999682" y="404430"/>
                  </a:lnTo>
                  <a:cubicBezTo>
                    <a:pt x="1999682" y="414567"/>
                    <a:pt x="1991464" y="422784"/>
                    <a:pt x="1981328" y="422784"/>
                  </a:cubicBezTo>
                  <a:lnTo>
                    <a:pt x="18354" y="422784"/>
                  </a:lnTo>
                  <a:cubicBezTo>
                    <a:pt x="8217" y="422784"/>
                    <a:pt x="0" y="414567"/>
                    <a:pt x="0" y="404430"/>
                  </a:cubicBezTo>
                  <a:lnTo>
                    <a:pt x="0" y="18354"/>
                  </a:lnTo>
                  <a:cubicBezTo>
                    <a:pt x="0" y="8217"/>
                    <a:pt x="8217" y="0"/>
                    <a:pt x="18354" y="0"/>
                  </a:cubicBezTo>
                  <a:close/>
                </a:path>
              </a:pathLst>
            </a:custGeom>
            <a:solidFill>
              <a:srgbClr val="5A774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99682" cy="460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2. </a:t>
              </a:r>
              <a:r>
                <a:rPr lang="vi-VN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Ứng dụng người dùng</a:t>
              </a:r>
              <a:r>
                <a:rPr lang="en-US" sz="21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   </a:t>
              </a: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Giao diện: </a:t>
              </a:r>
              <a:r>
                <a:rPr lang="en-US" sz="21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hiển thị thông tin liên quan đến cây trồng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Gửi message: </a:t>
              </a:r>
              <a:r>
                <a:rPr lang="en-US" sz="21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điều khiển tưới cây</a:t>
              </a:r>
            </a:p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EFEF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   Notification: </a:t>
              </a:r>
              <a:r>
                <a:rPr lang="vi-VN" sz="2100">
                  <a:solidFill>
                    <a:srgbClr val="FEFEFE"/>
                  </a:solidFill>
                  <a:latin typeface="Noto Sans"/>
                  <a:ea typeface="Noto Sans"/>
                  <a:cs typeface="Noto Sans"/>
                  <a:sym typeface="Noto Sans"/>
                </a:rPr>
                <a:t>báo hết nước, đang tưới, mất kết nối</a:t>
              </a:r>
              <a:r>
                <a:rPr lang="en-US" sz="2100" b="1" i="1">
                  <a:solidFill>
                    <a:srgbClr val="FEFEFE"/>
                  </a:solidFill>
                  <a:latin typeface="Noto Sans Bold Italics"/>
                  <a:ea typeface="Noto Sans Bold Italics"/>
                  <a:cs typeface="Noto Sans Bold Italics"/>
                  <a:sym typeface="Noto Sans Bold Italics"/>
                </a:rPr>
                <a:t>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2739159" y="4018029"/>
            <a:ext cx="2598499" cy="5393652"/>
          </a:xfrm>
          <a:custGeom>
            <a:avLst/>
            <a:gdLst/>
            <a:ahLst/>
            <a:cxnLst/>
            <a:rect l="l" t="t" r="r" b="b"/>
            <a:pathLst>
              <a:path w="2598499" h="5393652">
                <a:moveTo>
                  <a:pt x="0" y="0"/>
                </a:moveTo>
                <a:lnTo>
                  <a:pt x="2598499" y="0"/>
                </a:lnTo>
                <a:lnTo>
                  <a:pt x="2598499" y="5393652"/>
                </a:lnTo>
                <a:lnTo>
                  <a:pt x="0" y="5393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65" t="-2838" r="-15713" b="-5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279400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Kiến trúc hệ thống IoT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10168" y="6270110"/>
            <a:ext cx="6666596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D35DD686-7459-7A99-6B05-A38D1AC00659}"/>
              </a:ext>
            </a:extLst>
          </p:cNvPr>
          <p:cNvSpPr txBox="1"/>
          <p:nvPr/>
        </p:nvSpPr>
        <p:spPr>
          <a:xfrm>
            <a:off x="9144000" y="5466711"/>
            <a:ext cx="282941" cy="7185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4669" b="1">
                <a:solidFill>
                  <a:srgbClr val="6D8856"/>
                </a:solidFill>
                <a:latin typeface="Noto Sans Bold" panose="020B0802040504020204" pitchFamily="34" charset="0"/>
              </a:rPr>
              <a:t>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26368" y="4258807"/>
            <a:ext cx="1702028" cy="2011303"/>
            <a:chOff x="0" y="0"/>
            <a:chExt cx="2269371" cy="2681738"/>
          </a:xfrm>
        </p:grpSpPr>
        <p:sp>
          <p:nvSpPr>
            <p:cNvPr id="14" name="Freeform 14"/>
            <p:cNvSpPr/>
            <p:nvPr/>
          </p:nvSpPr>
          <p:spPr>
            <a:xfrm>
              <a:off x="0" y="899884"/>
              <a:ext cx="2180352" cy="1781854"/>
            </a:xfrm>
            <a:custGeom>
              <a:avLst/>
              <a:gdLst/>
              <a:ahLst/>
              <a:cxnLst/>
              <a:rect l="l" t="t" r="r" b="b"/>
              <a:pathLst>
                <a:path w="2180352" h="1781854">
                  <a:moveTo>
                    <a:pt x="0" y="0"/>
                  </a:moveTo>
                  <a:lnTo>
                    <a:pt x="2180352" y="0"/>
                  </a:lnTo>
                  <a:lnTo>
                    <a:pt x="2180352" y="1781854"/>
                  </a:lnTo>
                  <a:lnTo>
                    <a:pt x="0" y="1781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269371" cy="920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45"/>
                </a:lnSpc>
              </a:pPr>
              <a:r>
                <a:rPr lang="en-US" sz="4175" b="1">
                  <a:solidFill>
                    <a:srgbClr val="6D8856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Server</a:t>
              </a:r>
            </a:p>
          </p:txBody>
        </p:sp>
      </p:grpSp>
      <p:sp>
        <p:nvSpPr>
          <p:cNvPr id="24" name="Progress seg 1">
            <a:extLst>
              <a:ext uri="{FF2B5EF4-FFF2-40B4-BE49-F238E27FC236}">
                <a16:creationId xmlns:a16="http://schemas.microsoft.com/office/drawing/2014/main" id="{B4CDF84D-B643-4E16-8147-133B150F6019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seg 2">
            <a:extLst>
              <a:ext uri="{FF2B5EF4-FFF2-40B4-BE49-F238E27FC236}">
                <a16:creationId xmlns:a16="http://schemas.microsoft.com/office/drawing/2014/main" id="{E981CBA7-D535-4C00-73E4-3B562F303830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3">
            <a:extLst>
              <a:ext uri="{FF2B5EF4-FFF2-40B4-BE49-F238E27FC236}">
                <a16:creationId xmlns:a16="http://schemas.microsoft.com/office/drawing/2014/main" id="{A44AAFE5-1695-53A7-B8A3-EAB76662F0B4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4">
            <a:extLst>
              <a:ext uri="{FF2B5EF4-FFF2-40B4-BE49-F238E27FC236}">
                <a16:creationId xmlns:a16="http://schemas.microsoft.com/office/drawing/2014/main" id="{E6010C91-7E83-B189-0226-0659F3D78B51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5">
            <a:extLst>
              <a:ext uri="{FF2B5EF4-FFF2-40B4-BE49-F238E27FC236}">
                <a16:creationId xmlns:a16="http://schemas.microsoft.com/office/drawing/2014/main" id="{AEED7871-C723-8FAC-6539-43B9F5CDA1AA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seg 6">
            <a:extLst>
              <a:ext uri="{FF2B5EF4-FFF2-40B4-BE49-F238E27FC236}">
                <a16:creationId xmlns:a16="http://schemas.microsoft.com/office/drawing/2014/main" id="{0E0BF5E2-02A1-2ED3-57B4-ED3A45521561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label">
            <a:extLst>
              <a:ext uri="{FF2B5EF4-FFF2-40B4-BE49-F238E27FC236}">
                <a16:creationId xmlns:a16="http://schemas.microsoft.com/office/drawing/2014/main" id="{0DBD0B26-AC83-EB1C-E2C9-78906B6139A8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4 /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45442" y="0"/>
            <a:ext cx="9022836" cy="10352895"/>
          </a:xfrm>
          <a:custGeom>
            <a:avLst/>
            <a:gdLst/>
            <a:ahLst/>
            <a:cxnLst/>
            <a:rect l="l" t="t" r="r" b="b"/>
            <a:pathLst>
              <a:path w="9022836" h="10352895">
                <a:moveTo>
                  <a:pt x="0" y="0"/>
                </a:moveTo>
                <a:lnTo>
                  <a:pt x="9022836" y="0"/>
                </a:lnTo>
                <a:lnTo>
                  <a:pt x="9022836" y="10352895"/>
                </a:lnTo>
                <a:lnTo>
                  <a:pt x="0" y="1035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86" t="-10443" r="-91920" b="-1044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37633"/>
            <a:ext cx="9019585" cy="10522007"/>
            <a:chOff x="0" y="0"/>
            <a:chExt cx="12026113" cy="14029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9525"/>
              <a:ext cx="12026113" cy="200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999"/>
                </a:lnSpc>
              </a:pPr>
              <a:r>
                <a:rPr lang="en-US" sz="9999" b="1">
                  <a:solidFill>
                    <a:srgbClr val="6D8856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Server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694592"/>
              <a:ext cx="12026113" cy="11334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Nhiệm vụ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Đóng vai trò như cầu nối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giữa “Thiết bị cảm biến” và “Ứng dụng”.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Tiếp nhận dữ liệu từ thiết bị IoT</a:t>
              </a:r>
              <a:r>
                <a:rPr lang="vi-VN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và tự quyết định tưới: đất dưới 30% → bật bơm, trên 60% → tắt bơm.</a:t>
              </a: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Tiếp nhận yêu cầu từ app và AI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Gửi yêu cầu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hành động đến thiết bị IoT</a:t>
              </a:r>
            </a:p>
            <a:p>
              <a:pPr marL="647700" lvl="1" indent="-323850" algn="l">
                <a:lnSpc>
                  <a:spcPts val="4200"/>
                </a:lnSpc>
                <a:buAutoNum type="arabi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000" b="1">
                  <a:solidFill>
                    <a:srgbClr val="2C45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Lưu trữ thông tin</a:t>
              </a: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liên quan đến người dùng và cây trồng:</a:t>
              </a:r>
            </a:p>
            <a:p>
              <a:pPr marL="1295400" lvl="2" indent="-431800" algn="l">
                <a:lnSpc>
                  <a:spcPts val="4200"/>
                </a:lnSpc>
                <a:buAutoNum type="alphaLcPeriod"/>
              </a:pPr>
              <a:r>
                <a:rPr lang="vi-VN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Ngưỡng tưới, chế độ auto/manual</a:t>
              </a: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1295400" lvl="2" indent="-431800" algn="l">
                <a:lnSpc>
                  <a:spcPts val="4200"/>
                </a:lnSpc>
                <a:buAutoNum type="alphaL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Lịch sử lệnh điều khiển </a:t>
              </a:r>
            </a:p>
            <a:p>
              <a:pPr marL="1295400" lvl="2" indent="-431800" algn="l">
                <a:lnSpc>
                  <a:spcPts val="4200"/>
                </a:lnSpc>
                <a:buAutoNum type="alphaLcPeriod"/>
              </a:pPr>
              <a:r>
                <a:rPr lang="en-US" sz="3000">
                  <a:solidFill>
                    <a:srgbClr val="2C453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Lịch sử dữ liệu cảm biến</a:t>
              </a:r>
            </a:p>
            <a:p>
              <a:pPr algn="l">
                <a:lnSpc>
                  <a:spcPts val="4200"/>
                </a:lnSpc>
              </a:pP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4200"/>
                </a:lnSpc>
              </a:pP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l">
                <a:lnSpc>
                  <a:spcPts val="4200"/>
                </a:lnSpc>
              </a:pPr>
              <a:endParaRPr lang="en-US" sz="3000">
                <a:solidFill>
                  <a:srgbClr val="2C453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" name="Progress seg 1">
            <a:extLst>
              <a:ext uri="{FF2B5EF4-FFF2-40B4-BE49-F238E27FC236}">
                <a16:creationId xmlns:a16="http://schemas.microsoft.com/office/drawing/2014/main" id="{1DE80414-88B6-0E3D-9673-E7681C81B250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2">
            <a:extLst>
              <a:ext uri="{FF2B5EF4-FFF2-40B4-BE49-F238E27FC236}">
                <a16:creationId xmlns:a16="http://schemas.microsoft.com/office/drawing/2014/main" id="{97AA3BDC-797A-003A-B010-983050DCBFA1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3">
            <a:extLst>
              <a:ext uri="{FF2B5EF4-FFF2-40B4-BE49-F238E27FC236}">
                <a16:creationId xmlns:a16="http://schemas.microsoft.com/office/drawing/2014/main" id="{22191AFA-AEE7-66DC-3A76-902024AE05DD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4">
            <a:extLst>
              <a:ext uri="{FF2B5EF4-FFF2-40B4-BE49-F238E27FC236}">
                <a16:creationId xmlns:a16="http://schemas.microsoft.com/office/drawing/2014/main" id="{A5B69882-19F0-91CE-5412-5022D8077054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5">
            <a:extLst>
              <a:ext uri="{FF2B5EF4-FFF2-40B4-BE49-F238E27FC236}">
                <a16:creationId xmlns:a16="http://schemas.microsoft.com/office/drawing/2014/main" id="{D5A5514F-E8A4-00FE-0AC3-8C12A38B98E7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seg 6">
            <a:extLst>
              <a:ext uri="{FF2B5EF4-FFF2-40B4-BE49-F238E27FC236}">
                <a16:creationId xmlns:a16="http://schemas.microsoft.com/office/drawing/2014/main" id="{9E575DFC-70BC-4BDF-C305-C4120E169903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gress label">
            <a:extLst>
              <a:ext uri="{FF2B5EF4-FFF2-40B4-BE49-F238E27FC236}">
                <a16:creationId xmlns:a16="http://schemas.microsoft.com/office/drawing/2014/main" id="{AC748849-CD3A-01CE-B1AF-DA7ACEB70CA4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237"/>
            <a:ext cx="114300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Giao tiếp qua MQTT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473950" y="5740400"/>
            <a:ext cx="3340454" cy="866216"/>
            <a:chOff x="0" y="0"/>
            <a:chExt cx="879790" cy="2281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790" cy="228139"/>
            </a:xfrm>
            <a:custGeom>
              <a:avLst/>
              <a:gdLst/>
              <a:ahLst/>
              <a:cxnLst/>
              <a:rect l="l" t="t" r="r" b="b"/>
              <a:pathLst>
                <a:path w="879790" h="228139">
                  <a:moveTo>
                    <a:pt x="41717" y="0"/>
                  </a:moveTo>
                  <a:lnTo>
                    <a:pt x="838073" y="0"/>
                  </a:lnTo>
                  <a:cubicBezTo>
                    <a:pt x="861113" y="0"/>
                    <a:pt x="879790" y="18677"/>
                    <a:pt x="879790" y="41717"/>
                  </a:cubicBezTo>
                  <a:lnTo>
                    <a:pt x="879790" y="186422"/>
                  </a:lnTo>
                  <a:cubicBezTo>
                    <a:pt x="879790" y="209462"/>
                    <a:pt x="861113" y="228139"/>
                    <a:pt x="838073" y="228139"/>
                  </a:cubicBezTo>
                  <a:lnTo>
                    <a:pt x="41717" y="228139"/>
                  </a:lnTo>
                  <a:cubicBezTo>
                    <a:pt x="18677" y="228139"/>
                    <a:pt x="0" y="209462"/>
                    <a:pt x="0" y="186422"/>
                  </a:cubicBezTo>
                  <a:lnTo>
                    <a:pt x="0" y="41717"/>
                  </a:lnTo>
                  <a:cubicBezTo>
                    <a:pt x="0" y="18677"/>
                    <a:pt x="18677" y="0"/>
                    <a:pt x="4171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79790" cy="285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5A774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HiveMQ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8108950" y="3536950"/>
            <a:ext cx="2074227" cy="2066974"/>
          </a:xfrm>
          <a:custGeom>
            <a:avLst/>
            <a:gdLst/>
            <a:ahLst/>
            <a:cxnLst/>
            <a:rect l="l" t="t" r="r" b="b"/>
            <a:pathLst>
              <a:path w="2074227" h="2066974">
                <a:moveTo>
                  <a:pt x="0" y="0"/>
                </a:moveTo>
                <a:lnTo>
                  <a:pt x="2074227" y="0"/>
                </a:lnTo>
                <a:lnTo>
                  <a:pt x="2074227" y="2066974"/>
                </a:lnTo>
                <a:lnTo>
                  <a:pt x="0" y="206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4757560" y="3098936"/>
            <a:ext cx="3340454" cy="1738052"/>
            <a:chOff x="0" y="0"/>
            <a:chExt cx="879790" cy="4577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9790" cy="457759"/>
            </a:xfrm>
            <a:custGeom>
              <a:avLst/>
              <a:gdLst/>
              <a:ahLst/>
              <a:cxnLst/>
              <a:rect l="l" t="t" r="r" b="b"/>
              <a:pathLst>
                <a:path w="879790" h="457759">
                  <a:moveTo>
                    <a:pt x="41717" y="0"/>
                  </a:moveTo>
                  <a:lnTo>
                    <a:pt x="838073" y="0"/>
                  </a:lnTo>
                  <a:cubicBezTo>
                    <a:pt x="861113" y="0"/>
                    <a:pt x="879790" y="18677"/>
                    <a:pt x="879790" y="41717"/>
                  </a:cubicBezTo>
                  <a:lnTo>
                    <a:pt x="879790" y="416041"/>
                  </a:lnTo>
                  <a:cubicBezTo>
                    <a:pt x="879790" y="439081"/>
                    <a:pt x="861113" y="457759"/>
                    <a:pt x="838073" y="457759"/>
                  </a:cubicBezTo>
                  <a:lnTo>
                    <a:pt x="41717" y="457759"/>
                  </a:lnTo>
                  <a:cubicBezTo>
                    <a:pt x="18677" y="457759"/>
                    <a:pt x="0" y="439081"/>
                    <a:pt x="0" y="416041"/>
                  </a:cubicBezTo>
                  <a:lnTo>
                    <a:pt x="0" y="41717"/>
                  </a:lnTo>
                  <a:cubicBezTo>
                    <a:pt x="0" y="18677"/>
                    <a:pt x="18677" y="0"/>
                    <a:pt x="4171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79790" cy="514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Gửi dữ liệu</a:t>
              </a:r>
            </a:p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lên kênh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25141" y="3290332"/>
            <a:ext cx="3898693" cy="1355259"/>
            <a:chOff x="0" y="0"/>
            <a:chExt cx="1026816" cy="3569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26816" cy="356941"/>
            </a:xfrm>
            <a:custGeom>
              <a:avLst/>
              <a:gdLst/>
              <a:ahLst/>
              <a:cxnLst/>
              <a:rect l="l" t="t" r="r" b="b"/>
              <a:pathLst>
                <a:path w="1026816" h="356941">
                  <a:moveTo>
                    <a:pt x="35744" y="0"/>
                  </a:moveTo>
                  <a:lnTo>
                    <a:pt x="991072" y="0"/>
                  </a:lnTo>
                  <a:cubicBezTo>
                    <a:pt x="1010813" y="0"/>
                    <a:pt x="1026816" y="16003"/>
                    <a:pt x="1026816" y="35744"/>
                  </a:cubicBezTo>
                  <a:lnTo>
                    <a:pt x="1026816" y="321197"/>
                  </a:lnTo>
                  <a:cubicBezTo>
                    <a:pt x="1026816" y="330677"/>
                    <a:pt x="1023050" y="339768"/>
                    <a:pt x="1016347" y="346472"/>
                  </a:cubicBezTo>
                  <a:cubicBezTo>
                    <a:pt x="1009644" y="353175"/>
                    <a:pt x="1000552" y="356941"/>
                    <a:pt x="991072" y="356941"/>
                  </a:cubicBezTo>
                  <a:lnTo>
                    <a:pt x="35744" y="356941"/>
                  </a:lnTo>
                  <a:cubicBezTo>
                    <a:pt x="16003" y="356941"/>
                    <a:pt x="0" y="340938"/>
                    <a:pt x="0" y="321197"/>
                  </a:cubicBezTo>
                  <a:lnTo>
                    <a:pt x="0" y="35744"/>
                  </a:lnTo>
                  <a:cubicBezTo>
                    <a:pt x="0" y="16003"/>
                    <a:pt x="16003" y="0"/>
                    <a:pt x="35744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026816" cy="41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Đăng kí kênh,</a:t>
              </a:r>
            </a:p>
            <a:p>
              <a:pPr algn="ctr">
                <a:lnSpc>
                  <a:spcPts val="4200"/>
                </a:lnSpc>
              </a:pPr>
              <a:r>
                <a:rPr lang="en-US" sz="26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nhận message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74151" y="5687220"/>
            <a:ext cx="6035954" cy="1619642"/>
            <a:chOff x="0" y="0"/>
            <a:chExt cx="1589716" cy="4265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89716" cy="426572"/>
            </a:xfrm>
            <a:custGeom>
              <a:avLst/>
              <a:gdLst/>
              <a:ahLst/>
              <a:cxnLst/>
              <a:rect l="l" t="t" r="r" b="b"/>
              <a:pathLst>
                <a:path w="1589716" h="426572">
                  <a:moveTo>
                    <a:pt x="23087" y="0"/>
                  </a:moveTo>
                  <a:lnTo>
                    <a:pt x="1566629" y="0"/>
                  </a:lnTo>
                  <a:cubicBezTo>
                    <a:pt x="1579380" y="0"/>
                    <a:pt x="1589716" y="10337"/>
                    <a:pt x="1589716" y="23087"/>
                  </a:cubicBezTo>
                  <a:lnTo>
                    <a:pt x="1589716" y="403485"/>
                  </a:lnTo>
                  <a:cubicBezTo>
                    <a:pt x="1589716" y="416236"/>
                    <a:pt x="1579380" y="426572"/>
                    <a:pt x="1566629" y="426572"/>
                  </a:cubicBezTo>
                  <a:lnTo>
                    <a:pt x="23087" y="426572"/>
                  </a:lnTo>
                  <a:cubicBezTo>
                    <a:pt x="10337" y="426572"/>
                    <a:pt x="0" y="416236"/>
                    <a:pt x="0" y="403485"/>
                  </a:cubicBezTo>
                  <a:lnTo>
                    <a:pt x="0" y="23087"/>
                  </a:lnTo>
                  <a:cubicBezTo>
                    <a:pt x="0" y="10337"/>
                    <a:pt x="10337" y="0"/>
                    <a:pt x="23087" y="0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589716" cy="483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920"/>
                </a:lnSpc>
              </a:pPr>
              <a:r>
                <a:rPr lang="vi-VN" sz="2800" b="1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REST API</a:t>
              </a:r>
            </a:p>
            <a:p>
              <a:pPr algn="r">
                <a:lnSpc>
                  <a:spcPts val="3920"/>
                </a:lnSpc>
              </a:pPr>
              <a:r>
                <a:rPr lang="vi-VN" sz="2200">
                  <a:solidFill>
                    <a:srgbClr val="5A7745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  <a:sym typeface="Noto Sans" panose="020B0502040504020204" pitchFamily="34" charset="0"/>
                </a:rPr>
                <a:t>đọc dữ liệu &amp; gửi lệnh</a:t>
              </a:r>
              <a:endPara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endParaRPr>
            </a:p>
          </p:txBody>
        </p:sp>
      </p:grpSp>
      <p:sp>
        <p:nvSpPr>
          <p:cNvPr id="28" name="HiveMQ topic">
            <a:extLst>
              <a:ext uri="{FF2B5EF4-FFF2-40B4-BE49-F238E27FC236}">
                <a16:creationId xmlns:a16="http://schemas.microsoft.com/office/drawing/2014/main" id="{4D851095-FD62-BC07-258C-899E4C5CBF83}"/>
              </a:ext>
            </a:extLst>
          </p:cNvPr>
          <p:cNvSpPr txBox="1"/>
          <p:nvPr/>
        </p:nvSpPr>
        <p:spPr>
          <a:xfrm>
            <a:off x="6604000" y="6426200"/>
            <a:ext cx="5080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kênh: xmini/sensor_data</a:t>
            </a:r>
          </a:p>
        </p:txBody>
      </p:sp>
      <p:sp>
        <p:nvSpPr>
          <p:cNvPr id="29" name="Box IoT">
            <a:extLst>
              <a:ext uri="{FF2B5EF4-FFF2-40B4-BE49-F238E27FC236}">
                <a16:creationId xmlns:a16="http://schemas.microsoft.com/office/drawing/2014/main" id="{746B92BD-6DC8-0488-FAC6-E2CDECB1AEBD}"/>
              </a:ext>
            </a:extLst>
          </p:cNvPr>
          <p:cNvSpPr/>
          <p:nvPr/>
        </p:nvSpPr>
        <p:spPr>
          <a:xfrm>
            <a:off x="1028700" y="3746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IoT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ESP32 + cảm biến</a:t>
            </a:r>
          </a:p>
        </p:txBody>
      </p:sp>
      <p:sp>
        <p:nvSpPr>
          <p:cNvPr id="30" name="Box Server">
            <a:extLst>
              <a:ext uri="{FF2B5EF4-FFF2-40B4-BE49-F238E27FC236}">
                <a16:creationId xmlns:a16="http://schemas.microsoft.com/office/drawing/2014/main" id="{91027735-6671-B133-6B8C-99C31DF08296}"/>
              </a:ext>
            </a:extLst>
          </p:cNvPr>
          <p:cNvSpPr/>
          <p:nvPr/>
        </p:nvSpPr>
        <p:spPr>
          <a:xfrm>
            <a:off x="13449300" y="3746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vi-VN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</a:t>
            </a:r>
          </a:p>
          <a:p>
            <a:pPr algn="ctr"/>
            <a:r>
              <a:rPr lang="vi-VN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lưu dữ liệu · tự tưới</a:t>
            </a:r>
            <a:endParaRPr lang="en-US" sz="2000">
              <a:solidFill>
                <a:srgbClr val="DCE7D3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1" name="Box App">
            <a:extLst>
              <a:ext uri="{FF2B5EF4-FFF2-40B4-BE49-F238E27FC236}">
                <a16:creationId xmlns:a16="http://schemas.microsoft.com/office/drawing/2014/main" id="{EFC77603-8D7C-116B-55A1-91E8E90064F1}"/>
              </a:ext>
            </a:extLst>
          </p:cNvPr>
          <p:cNvSpPr/>
          <p:nvPr/>
        </p:nvSpPr>
        <p:spPr>
          <a:xfrm>
            <a:off x="13449300" y="73660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Application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xem &amp; điều khiển cây</a:t>
            </a:r>
          </a:p>
        </p:txBody>
      </p:sp>
      <p:cxnSp>
        <p:nvCxnSpPr>
          <p:cNvPr id="32" name="Arrow IoT-HiveMQ">
            <a:extLst>
              <a:ext uri="{FF2B5EF4-FFF2-40B4-BE49-F238E27FC236}">
                <a16:creationId xmlns:a16="http://schemas.microsoft.com/office/drawing/2014/main" id="{9B40B7B7-66FA-E2FD-E1F6-CC019CF079AB}"/>
              </a:ext>
            </a:extLst>
          </p:cNvPr>
          <p:cNvCxnSpPr/>
          <p:nvPr/>
        </p:nvCxnSpPr>
        <p:spPr>
          <a:xfrm>
            <a:off x="5016500" y="4572000"/>
            <a:ext cx="29083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Arrow HiveMQ-Server">
            <a:extLst>
              <a:ext uri="{FF2B5EF4-FFF2-40B4-BE49-F238E27FC236}">
                <a16:creationId xmlns:a16="http://schemas.microsoft.com/office/drawing/2014/main" id="{43494389-D3DF-7025-41F1-3E272784F3B7}"/>
              </a:ext>
            </a:extLst>
          </p:cNvPr>
          <p:cNvCxnSpPr/>
          <p:nvPr/>
        </p:nvCxnSpPr>
        <p:spPr>
          <a:xfrm>
            <a:off x="10363200" y="4572000"/>
            <a:ext cx="29083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Arrow Server-App">
            <a:extLst>
              <a:ext uri="{FF2B5EF4-FFF2-40B4-BE49-F238E27FC236}">
                <a16:creationId xmlns:a16="http://schemas.microsoft.com/office/drawing/2014/main" id="{F6EFB906-B031-7A3E-61F1-9420324C87E2}"/>
              </a:ext>
            </a:extLst>
          </p:cNvPr>
          <p:cNvCxnSpPr/>
          <p:nvPr/>
        </p:nvCxnSpPr>
        <p:spPr>
          <a:xfrm>
            <a:off x="15354300" y="5575300"/>
            <a:ext cx="0" cy="161290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rogress seg 1">
            <a:extLst>
              <a:ext uri="{FF2B5EF4-FFF2-40B4-BE49-F238E27FC236}">
                <a16:creationId xmlns:a16="http://schemas.microsoft.com/office/drawing/2014/main" id="{C22E199E-D24D-AEF2-B18F-E751670388BC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rogress seg 2">
            <a:extLst>
              <a:ext uri="{FF2B5EF4-FFF2-40B4-BE49-F238E27FC236}">
                <a16:creationId xmlns:a16="http://schemas.microsoft.com/office/drawing/2014/main" id="{538C8331-7093-8953-872A-7AE119CCEEAC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rogress seg 3">
            <a:extLst>
              <a:ext uri="{FF2B5EF4-FFF2-40B4-BE49-F238E27FC236}">
                <a16:creationId xmlns:a16="http://schemas.microsoft.com/office/drawing/2014/main" id="{1A3170A0-E27D-B9DA-EE82-B72A28B0AEE9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rogress seg 4">
            <a:extLst>
              <a:ext uri="{FF2B5EF4-FFF2-40B4-BE49-F238E27FC236}">
                <a16:creationId xmlns:a16="http://schemas.microsoft.com/office/drawing/2014/main" id="{F15993BA-9844-14B2-926F-3CB85CBC13D9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rogress seg 5">
            <a:extLst>
              <a:ext uri="{FF2B5EF4-FFF2-40B4-BE49-F238E27FC236}">
                <a16:creationId xmlns:a16="http://schemas.microsoft.com/office/drawing/2014/main" id="{CB369B87-E13E-66D3-AC8D-D4550D0C3F92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rogress seg 6">
            <a:extLst>
              <a:ext uri="{FF2B5EF4-FFF2-40B4-BE49-F238E27FC236}">
                <a16:creationId xmlns:a16="http://schemas.microsoft.com/office/drawing/2014/main" id="{383551C4-014A-398C-EA24-6E28581C9260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rogress label">
            <a:extLst>
              <a:ext uri="{FF2B5EF4-FFF2-40B4-BE49-F238E27FC236}">
                <a16:creationId xmlns:a16="http://schemas.microsoft.com/office/drawing/2014/main" id="{9ABB469C-9DFC-F041-6424-7ACB4689AD69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189200" y="5251450"/>
            <a:ext cx="2074227" cy="2066974"/>
          </a:xfrm>
          <a:custGeom>
            <a:avLst/>
            <a:gdLst/>
            <a:ahLst/>
            <a:cxnLst/>
            <a:rect l="l" t="t" r="r" b="b"/>
            <a:pathLst>
              <a:path w="2074227" h="2066974">
                <a:moveTo>
                  <a:pt x="0" y="0"/>
                </a:moveTo>
                <a:lnTo>
                  <a:pt x="2074227" y="0"/>
                </a:lnTo>
                <a:lnTo>
                  <a:pt x="2074227" y="2066975"/>
                </a:lnTo>
                <a:lnTo>
                  <a:pt x="0" y="2066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14237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Dữ liệu đi lên, lệnh đi xuống</a:t>
            </a:r>
          </a:p>
        </p:txBody>
      </p:sp>
      <p:sp>
        <p:nvSpPr>
          <p:cNvPr id="11" name="Box IoT">
            <a:extLst>
              <a:ext uri="{FF2B5EF4-FFF2-40B4-BE49-F238E27FC236}">
                <a16:creationId xmlns:a16="http://schemas.microsoft.com/office/drawing/2014/main" id="{9E91C45B-7FD7-E552-2507-A00DC753AD1F}"/>
              </a:ext>
            </a:extLst>
          </p:cNvPr>
          <p:cNvSpPr/>
          <p:nvPr/>
        </p:nvSpPr>
        <p:spPr>
          <a:xfrm>
            <a:off x="1028700" y="54610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IoT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ESP32 + cảm biến</a:t>
            </a:r>
          </a:p>
        </p:txBody>
      </p:sp>
      <p:sp>
        <p:nvSpPr>
          <p:cNvPr id="12" name="Code telemetry">
            <a:extLst>
              <a:ext uri="{FF2B5EF4-FFF2-40B4-BE49-F238E27FC236}">
                <a16:creationId xmlns:a16="http://schemas.microsoft.com/office/drawing/2014/main" id="{6215726C-2C32-CF00-41F0-346A7288A933}"/>
              </a:ext>
            </a:extLst>
          </p:cNvPr>
          <p:cNvSpPr/>
          <p:nvPr/>
        </p:nvSpPr>
        <p:spPr>
          <a:xfrm>
            <a:off x="6203950" y="4356100"/>
            <a:ext cx="7620000" cy="660400"/>
          </a:xfrm>
          <a:prstGeom prst="roundRect">
            <a:avLst>
              <a:gd name="adj" fmla="val 18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22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{"soil_percent": 23, "temperature_c": 28, ...}</a:t>
            </a:r>
          </a:p>
        </p:txBody>
      </p:sp>
      <p:sp>
        <p:nvSpPr>
          <p:cNvPr id="13" name="Code command">
            <a:extLst>
              <a:ext uri="{FF2B5EF4-FFF2-40B4-BE49-F238E27FC236}">
                <a16:creationId xmlns:a16="http://schemas.microsoft.com/office/drawing/2014/main" id="{F1B4A583-D691-D743-FF44-22B9CB6D4493}"/>
              </a:ext>
            </a:extLst>
          </p:cNvPr>
          <p:cNvSpPr/>
          <p:nvPr/>
        </p:nvSpPr>
        <p:spPr>
          <a:xfrm>
            <a:off x="8616950" y="7556500"/>
            <a:ext cx="2794000" cy="660400"/>
          </a:xfrm>
          <a:prstGeom prst="roundRect">
            <a:avLst>
              <a:gd name="adj" fmla="val 18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22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{"pump": true}</a:t>
            </a:r>
          </a:p>
        </p:txBody>
      </p:sp>
      <p:cxnSp>
        <p:nvCxnSpPr>
          <p:cNvPr id="14" name="Arrow data up">
            <a:extLst>
              <a:ext uri="{FF2B5EF4-FFF2-40B4-BE49-F238E27FC236}">
                <a16:creationId xmlns:a16="http://schemas.microsoft.com/office/drawing/2014/main" id="{706815B6-4CEA-C1F9-7730-439E3BCB2F2E}"/>
              </a:ext>
            </a:extLst>
          </p:cNvPr>
          <p:cNvCxnSpPr/>
          <p:nvPr/>
        </p:nvCxnSpPr>
        <p:spPr>
          <a:xfrm>
            <a:off x="5016500" y="5778500"/>
            <a:ext cx="99949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Arrow command down">
            <a:extLst>
              <a:ext uri="{FF2B5EF4-FFF2-40B4-BE49-F238E27FC236}">
                <a16:creationId xmlns:a16="http://schemas.microsoft.com/office/drawing/2014/main" id="{B970DE36-291D-675D-6806-ED11761A8466}"/>
              </a:ext>
            </a:extLst>
          </p:cNvPr>
          <p:cNvCxnSpPr/>
          <p:nvPr/>
        </p:nvCxnSpPr>
        <p:spPr>
          <a:xfrm flipH="1">
            <a:off x="5016500" y="6794500"/>
            <a:ext cx="99949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abel data up">
            <a:extLst>
              <a:ext uri="{FF2B5EF4-FFF2-40B4-BE49-F238E27FC236}">
                <a16:creationId xmlns:a16="http://schemas.microsoft.com/office/drawing/2014/main" id="{802B5573-A44D-4340-A62F-4C88340BFB47}"/>
              </a:ext>
            </a:extLst>
          </p:cNvPr>
          <p:cNvSpPr txBox="1"/>
          <p:nvPr/>
        </p:nvSpPr>
        <p:spPr>
          <a:xfrm>
            <a:off x="5187950" y="5143500"/>
            <a:ext cx="9652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Gửi dữ liệu lên xmini/sensor_data (~10 giây/lần)</a:t>
            </a:r>
          </a:p>
        </p:txBody>
      </p:sp>
      <p:sp>
        <p:nvSpPr>
          <p:cNvPr id="17" name="Label command down">
            <a:extLst>
              <a:ext uri="{FF2B5EF4-FFF2-40B4-BE49-F238E27FC236}">
                <a16:creationId xmlns:a16="http://schemas.microsoft.com/office/drawing/2014/main" id="{1CB03381-BB9D-250A-0CAE-E89CFC3EADF4}"/>
              </a:ext>
            </a:extLst>
          </p:cNvPr>
          <p:cNvSpPr txBox="1"/>
          <p:nvPr/>
        </p:nvSpPr>
        <p:spPr>
          <a:xfrm>
            <a:off x="5187950" y="6997700"/>
            <a:ext cx="9652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gửi lệnh xuống xmini/control</a:t>
            </a:r>
          </a:p>
        </p:txBody>
      </p:sp>
      <p:sp>
        <p:nvSpPr>
          <p:cNvPr id="18" name="Label HiveMQ">
            <a:extLst>
              <a:ext uri="{FF2B5EF4-FFF2-40B4-BE49-F238E27FC236}">
                <a16:creationId xmlns:a16="http://schemas.microsoft.com/office/drawing/2014/main" id="{85E52904-FEE7-87D1-10AB-20C5E949BAB6}"/>
              </a:ext>
            </a:extLst>
          </p:cNvPr>
          <p:cNvSpPr txBox="1"/>
          <p:nvPr/>
        </p:nvSpPr>
        <p:spPr>
          <a:xfrm>
            <a:off x="14554200" y="7416800"/>
            <a:ext cx="3340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HiveMQ</a:t>
            </a:r>
          </a:p>
        </p:txBody>
      </p:sp>
      <p:sp>
        <p:nvSpPr>
          <p:cNvPr id="26" name="Progress seg 1">
            <a:extLst>
              <a:ext uri="{FF2B5EF4-FFF2-40B4-BE49-F238E27FC236}">
                <a16:creationId xmlns:a16="http://schemas.microsoft.com/office/drawing/2014/main" id="{E469B968-123B-A029-01DA-AD7CCFC3EC31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2">
            <a:extLst>
              <a:ext uri="{FF2B5EF4-FFF2-40B4-BE49-F238E27FC236}">
                <a16:creationId xmlns:a16="http://schemas.microsoft.com/office/drawing/2014/main" id="{E55FD265-DC98-8D78-F81F-0A76A2958420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3">
            <a:extLst>
              <a:ext uri="{FF2B5EF4-FFF2-40B4-BE49-F238E27FC236}">
                <a16:creationId xmlns:a16="http://schemas.microsoft.com/office/drawing/2014/main" id="{4E035A4B-534F-4006-BBF7-9D7CB648ADCC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seg 4">
            <a:extLst>
              <a:ext uri="{FF2B5EF4-FFF2-40B4-BE49-F238E27FC236}">
                <a16:creationId xmlns:a16="http://schemas.microsoft.com/office/drawing/2014/main" id="{49D6DA9A-BF95-9651-E9DA-0F14C2C7D474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seg 5">
            <a:extLst>
              <a:ext uri="{FF2B5EF4-FFF2-40B4-BE49-F238E27FC236}">
                <a16:creationId xmlns:a16="http://schemas.microsoft.com/office/drawing/2014/main" id="{112C10FB-A098-093F-147A-A346DE26A042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rogress seg 6">
            <a:extLst>
              <a:ext uri="{FF2B5EF4-FFF2-40B4-BE49-F238E27FC236}">
                <a16:creationId xmlns:a16="http://schemas.microsoft.com/office/drawing/2014/main" id="{7D4AB6CC-2E29-1A08-6899-AF16B27FA59F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gress label">
            <a:extLst>
              <a:ext uri="{FF2B5EF4-FFF2-40B4-BE49-F238E27FC236}">
                <a16:creationId xmlns:a16="http://schemas.microsoft.com/office/drawing/2014/main" id="{A50C7B35-D7E1-C8F9-7904-776F87DB0AA9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028700" y="4171950"/>
            <a:ext cx="2074227" cy="2066974"/>
          </a:xfrm>
          <a:custGeom>
            <a:avLst/>
            <a:gdLst/>
            <a:ahLst/>
            <a:cxnLst/>
            <a:rect l="l" t="t" r="r" b="b"/>
            <a:pathLst>
              <a:path w="2074227" h="2066974">
                <a:moveTo>
                  <a:pt x="0" y="0"/>
                </a:moveTo>
                <a:lnTo>
                  <a:pt x="2074226" y="0"/>
                </a:lnTo>
                <a:lnTo>
                  <a:pt x="2074226" y="2066974"/>
                </a:lnTo>
                <a:lnTo>
                  <a:pt x="0" y="2066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914237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App đọc dữ liệu qua REST API</a:t>
            </a:r>
          </a:p>
        </p:txBody>
      </p:sp>
      <p:sp>
        <p:nvSpPr>
          <p:cNvPr id="14" name="Box Server">
            <a:extLst>
              <a:ext uri="{FF2B5EF4-FFF2-40B4-BE49-F238E27FC236}">
                <a16:creationId xmlns:a16="http://schemas.microsoft.com/office/drawing/2014/main" id="{33A5EB0D-9171-3541-2D60-BD15FB812C46}"/>
              </a:ext>
            </a:extLst>
          </p:cNvPr>
          <p:cNvSpPr/>
          <p:nvPr/>
        </p:nvSpPr>
        <p:spPr>
          <a:xfrm>
            <a:off x="7112000" y="4381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vi-VN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</a:t>
            </a:r>
          </a:p>
          <a:p>
            <a:pPr algn="ctr"/>
            <a:r>
              <a:rPr lang="vi-VN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lưu dữ liệu · tự tưới</a:t>
            </a:r>
            <a:endParaRPr lang="en-US" sz="2000">
              <a:solidFill>
                <a:srgbClr val="DCE7D3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5" name="Box App">
            <a:extLst>
              <a:ext uri="{FF2B5EF4-FFF2-40B4-BE49-F238E27FC236}">
                <a16:creationId xmlns:a16="http://schemas.microsoft.com/office/drawing/2014/main" id="{9CC4599E-E24C-A1FA-CBD9-6EFBE4A84298}"/>
              </a:ext>
            </a:extLst>
          </p:cNvPr>
          <p:cNvSpPr/>
          <p:nvPr/>
        </p:nvSpPr>
        <p:spPr>
          <a:xfrm>
            <a:off x="13449300" y="4381500"/>
            <a:ext cx="38100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Application</a:t>
            </a:r>
          </a:p>
          <a:p>
            <a:pPr algn="ctr"/>
            <a:r>
              <a:rPr lang="en-US" sz="2000">
                <a:solidFill>
                  <a:srgbClr val="DCE7D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xem &amp; điều khiển cây</a:t>
            </a:r>
          </a:p>
        </p:txBody>
      </p:sp>
      <p:sp>
        <p:nvSpPr>
          <p:cNvPr id="16" name="Code REST">
            <a:extLst>
              <a:ext uri="{FF2B5EF4-FFF2-40B4-BE49-F238E27FC236}">
                <a16:creationId xmlns:a16="http://schemas.microsoft.com/office/drawing/2014/main" id="{4CFC10E7-77E7-D0E2-CF22-2791DEF2878B}"/>
              </a:ext>
            </a:extLst>
          </p:cNvPr>
          <p:cNvSpPr/>
          <p:nvPr/>
        </p:nvSpPr>
        <p:spPr>
          <a:xfrm>
            <a:off x="7740650" y="6667500"/>
            <a:ext cx="8890000" cy="1397000"/>
          </a:xfrm>
          <a:prstGeom prst="roundRect">
            <a:avLst>
              <a:gd name="adj" fmla="val 8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50800" rIns="254000" bIns="50800" rtlCol="0" anchor="ctr"/>
          <a:lstStyle/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GET /api/sensordata/latest/ESP32S3_Zone1</a:t>
            </a:r>
          </a:p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 "deviceId": "ESP32S3_Zone1", "soilPercent": 23,</a:t>
            </a:r>
          </a:p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"temperature": 28.4, "pumpOn": false, "mode": "auto" }</a:t>
            </a:r>
          </a:p>
        </p:txBody>
      </p:sp>
      <p:cxnSp>
        <p:nvCxnSpPr>
          <p:cNvPr id="17" name="Arrow subscribe">
            <a:extLst>
              <a:ext uri="{FF2B5EF4-FFF2-40B4-BE49-F238E27FC236}">
                <a16:creationId xmlns:a16="http://schemas.microsoft.com/office/drawing/2014/main" id="{3B17031C-3336-E989-C715-AE362003187B}"/>
              </a:ext>
            </a:extLst>
          </p:cNvPr>
          <p:cNvCxnSpPr/>
          <p:nvPr/>
        </p:nvCxnSpPr>
        <p:spPr>
          <a:xfrm>
            <a:off x="3276600" y="5207000"/>
            <a:ext cx="36576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rrow REST">
            <a:extLst>
              <a:ext uri="{FF2B5EF4-FFF2-40B4-BE49-F238E27FC236}">
                <a16:creationId xmlns:a16="http://schemas.microsoft.com/office/drawing/2014/main" id="{2850AEE0-5ACD-812D-9697-2B7212E7DC79}"/>
              </a:ext>
            </a:extLst>
          </p:cNvPr>
          <p:cNvCxnSpPr/>
          <p:nvPr/>
        </p:nvCxnSpPr>
        <p:spPr>
          <a:xfrm>
            <a:off x="11099800" y="5207000"/>
            <a:ext cx="21717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abel subscribe">
            <a:extLst>
              <a:ext uri="{FF2B5EF4-FFF2-40B4-BE49-F238E27FC236}">
                <a16:creationId xmlns:a16="http://schemas.microsoft.com/office/drawing/2014/main" id="{240C10DB-83EE-0005-AA81-03EDBF352012}"/>
              </a:ext>
            </a:extLst>
          </p:cNvPr>
          <p:cNvSpPr txBox="1"/>
          <p:nvPr/>
        </p:nvSpPr>
        <p:spPr>
          <a:xfrm>
            <a:off x="3200400" y="4140200"/>
            <a:ext cx="3810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Đăng kí kênh</a:t>
            </a:r>
          </a:p>
          <a:p>
            <a:pPr algn="ctr"/>
            <a:r>
              <a:rPr lang="en-US" sz="24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xmini/sensor_data</a:t>
            </a:r>
          </a:p>
        </p:txBody>
      </p:sp>
      <p:sp>
        <p:nvSpPr>
          <p:cNvPr id="20" name="Label REST">
            <a:extLst>
              <a:ext uri="{FF2B5EF4-FFF2-40B4-BE49-F238E27FC236}">
                <a16:creationId xmlns:a16="http://schemas.microsoft.com/office/drawing/2014/main" id="{B3941CA7-8EF7-3676-279B-7AED7E7566EC}"/>
              </a:ext>
            </a:extLst>
          </p:cNvPr>
          <p:cNvSpPr txBox="1"/>
          <p:nvPr/>
        </p:nvSpPr>
        <p:spPr>
          <a:xfrm>
            <a:off x="10915650" y="4546600"/>
            <a:ext cx="254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REST API</a:t>
            </a:r>
          </a:p>
        </p:txBody>
      </p:sp>
      <p:sp>
        <p:nvSpPr>
          <p:cNvPr id="21" name="Label HiveMQ">
            <a:extLst>
              <a:ext uri="{FF2B5EF4-FFF2-40B4-BE49-F238E27FC236}">
                <a16:creationId xmlns:a16="http://schemas.microsoft.com/office/drawing/2014/main" id="{17FDD597-F1B8-2946-8F18-61820E002C55}"/>
              </a:ext>
            </a:extLst>
          </p:cNvPr>
          <p:cNvSpPr txBox="1"/>
          <p:nvPr/>
        </p:nvSpPr>
        <p:spPr>
          <a:xfrm>
            <a:off x="393700" y="6324600"/>
            <a:ext cx="33401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HiveMQ</a:t>
            </a:r>
          </a:p>
        </p:txBody>
      </p:sp>
      <p:sp>
        <p:nvSpPr>
          <p:cNvPr id="29" name="Progress seg 1">
            <a:extLst>
              <a:ext uri="{FF2B5EF4-FFF2-40B4-BE49-F238E27FC236}">
                <a16:creationId xmlns:a16="http://schemas.microsoft.com/office/drawing/2014/main" id="{B1E1F5FE-3018-CC83-73FE-BD26B6477466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seg 2">
            <a:extLst>
              <a:ext uri="{FF2B5EF4-FFF2-40B4-BE49-F238E27FC236}">
                <a16:creationId xmlns:a16="http://schemas.microsoft.com/office/drawing/2014/main" id="{6678EAFB-5341-0A9D-EA5A-C1EBB0169F9E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rogress seg 3">
            <a:extLst>
              <a:ext uri="{FF2B5EF4-FFF2-40B4-BE49-F238E27FC236}">
                <a16:creationId xmlns:a16="http://schemas.microsoft.com/office/drawing/2014/main" id="{DEC6A34F-2AFA-8BB7-3BF1-72C75DEA8A3B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gress seg 4">
            <a:extLst>
              <a:ext uri="{FF2B5EF4-FFF2-40B4-BE49-F238E27FC236}">
                <a16:creationId xmlns:a16="http://schemas.microsoft.com/office/drawing/2014/main" id="{539D1584-E2AB-04ED-940C-97724552F044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gress seg 5">
            <a:extLst>
              <a:ext uri="{FF2B5EF4-FFF2-40B4-BE49-F238E27FC236}">
                <a16:creationId xmlns:a16="http://schemas.microsoft.com/office/drawing/2014/main" id="{6BDCCFCB-37E7-9494-1914-18B1CC24938A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gress seg 6">
            <a:extLst>
              <a:ext uri="{FF2B5EF4-FFF2-40B4-BE49-F238E27FC236}">
                <a16:creationId xmlns:a16="http://schemas.microsoft.com/office/drawing/2014/main" id="{196394A3-BF8E-CA84-F4B7-EC066A32709F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gress label">
            <a:extLst>
              <a:ext uri="{FF2B5EF4-FFF2-40B4-BE49-F238E27FC236}">
                <a16:creationId xmlns:a16="http://schemas.microsoft.com/office/drawing/2014/main" id="{7D6A44B6-9F10-DC66-D600-FA9EF08DD946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Kiến trúc IoT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38225"/>
            <a:ext cx="6307321" cy="11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Chế độ auto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699" y="3412993"/>
            <a:ext cx="9906000" cy="173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Không ai tưới,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cây có tự được chăm không?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pic>
        <p:nvPicPr>
          <p:cNvPr id="9" name="Question image">
            <a:extLst>
              <a:ext uri="{FF2B5EF4-FFF2-40B4-BE49-F238E27FC236}">
                <a16:creationId xmlns:a16="http://schemas.microsoft.com/office/drawing/2014/main" id="{55DC0D41-1EE4-3975-07F4-FBB6FF54CE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5" b="5755"/>
          <a:stretch>
            <a:fillRect/>
          </a:stretch>
        </p:blipFill>
        <p:spPr>
          <a:xfrm>
            <a:off x="10541000" y="0"/>
            <a:ext cx="7747000" cy="10287000"/>
          </a:xfrm>
          <a:prstGeom prst="rect">
            <a:avLst/>
          </a:prstGeom>
        </p:spPr>
      </p:pic>
      <p:sp>
        <p:nvSpPr>
          <p:cNvPr id="17" name="Progress seg 1">
            <a:extLst>
              <a:ext uri="{FF2B5EF4-FFF2-40B4-BE49-F238E27FC236}">
                <a16:creationId xmlns:a16="http://schemas.microsoft.com/office/drawing/2014/main" id="{496C41B0-6ED2-9720-0EA7-3E123A0CFF4B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seg 2">
            <a:extLst>
              <a:ext uri="{FF2B5EF4-FFF2-40B4-BE49-F238E27FC236}">
                <a16:creationId xmlns:a16="http://schemas.microsoft.com/office/drawing/2014/main" id="{617112D7-70C3-72D6-6C94-7160DAEBEC09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rogress seg 3">
            <a:extLst>
              <a:ext uri="{FF2B5EF4-FFF2-40B4-BE49-F238E27FC236}">
                <a16:creationId xmlns:a16="http://schemas.microsoft.com/office/drawing/2014/main" id="{C22C9B68-E2F4-3434-754D-564A0317BE05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rogress seg 4">
            <a:extLst>
              <a:ext uri="{FF2B5EF4-FFF2-40B4-BE49-F238E27FC236}">
                <a16:creationId xmlns:a16="http://schemas.microsoft.com/office/drawing/2014/main" id="{C71039A7-9625-5824-CA07-32EAEF4C8E20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rogress seg 5">
            <a:extLst>
              <a:ext uri="{FF2B5EF4-FFF2-40B4-BE49-F238E27FC236}">
                <a16:creationId xmlns:a16="http://schemas.microsoft.com/office/drawing/2014/main" id="{BD4C50BD-ABEB-05BF-2451-756003045D76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gress seg 6">
            <a:extLst>
              <a:ext uri="{FF2B5EF4-FFF2-40B4-BE49-F238E27FC236}">
                <a16:creationId xmlns:a16="http://schemas.microsoft.com/office/drawing/2014/main" id="{E0E65B4E-B59F-EA35-0DC5-F5A9628C8817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rogress label">
            <a:extLst>
              <a:ext uri="{FF2B5EF4-FFF2-40B4-BE49-F238E27FC236}">
                <a16:creationId xmlns:a16="http://schemas.microsoft.com/office/drawing/2014/main" id="{CBDF77C4-F3BC-F664-7917-46891444798F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it-IT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Chế độ auto</a:t>
            </a:r>
            <a:r>
              <a:rPr lang="it-IT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9 / 25</a:t>
            </a:r>
            <a:endParaRPr lang="en-US" sz="16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61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187824-1E21-32D5-2509-3CD06EEC15EC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vi-VN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Chế độ auto: tưới theo ngưỡng</a:t>
            </a:r>
            <a:endParaRPr lang="en-US" sz="7999" b="1">
              <a:solidFill>
                <a:srgbClr val="6D8856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Band wet">
            <a:extLst>
              <a:ext uri="{FF2B5EF4-FFF2-40B4-BE49-F238E27FC236}">
                <a16:creationId xmlns:a16="http://schemas.microsoft.com/office/drawing/2014/main" id="{EAA97CDA-D6D6-9DC4-7016-033CFACE716B}"/>
              </a:ext>
            </a:extLst>
          </p:cNvPr>
          <p:cNvSpPr/>
          <p:nvPr/>
        </p:nvSpPr>
        <p:spPr>
          <a:xfrm>
            <a:off x="1905000" y="3657600"/>
            <a:ext cx="1016000" cy="2194560"/>
          </a:xfrm>
          <a:prstGeom prst="roundRect">
            <a:avLst>
              <a:gd name="adj" fmla="val 0"/>
            </a:avLst>
          </a:prstGeom>
          <a:solidFill>
            <a:srgbClr val="D3E6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Band mid">
            <a:extLst>
              <a:ext uri="{FF2B5EF4-FFF2-40B4-BE49-F238E27FC236}">
                <a16:creationId xmlns:a16="http://schemas.microsoft.com/office/drawing/2014/main" id="{4F0FA1A7-E2F7-CA10-E09E-683979D7A810}"/>
              </a:ext>
            </a:extLst>
          </p:cNvPr>
          <p:cNvSpPr/>
          <p:nvPr/>
        </p:nvSpPr>
        <p:spPr>
          <a:xfrm>
            <a:off x="1905000" y="5852160"/>
            <a:ext cx="1016000" cy="1645920"/>
          </a:xfrm>
          <a:prstGeom prst="roundRect">
            <a:avLst>
              <a:gd name="adj" fmla="val 0"/>
            </a:avLst>
          </a:prstGeom>
          <a:solidFill>
            <a:srgbClr val="E3EBD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5" name="Band dry">
            <a:extLst>
              <a:ext uri="{FF2B5EF4-FFF2-40B4-BE49-F238E27FC236}">
                <a16:creationId xmlns:a16="http://schemas.microsoft.com/office/drawing/2014/main" id="{BD40851E-59BC-F9E1-3412-1679E51E8060}"/>
              </a:ext>
            </a:extLst>
          </p:cNvPr>
          <p:cNvSpPr/>
          <p:nvPr/>
        </p:nvSpPr>
        <p:spPr>
          <a:xfrm>
            <a:off x="1905000" y="7498080"/>
            <a:ext cx="1016000" cy="1645920"/>
          </a:xfrm>
          <a:prstGeom prst="roundRect">
            <a:avLst>
              <a:gd name="adj" fmla="val 0"/>
            </a:avLst>
          </a:prstGeom>
          <a:solidFill>
            <a:srgbClr val="F6DCC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Rule 1">
            <a:extLst>
              <a:ext uri="{FF2B5EF4-FFF2-40B4-BE49-F238E27FC236}">
                <a16:creationId xmlns:a16="http://schemas.microsoft.com/office/drawing/2014/main" id="{6DE5B05E-EF78-8F95-35C6-FA30FD6774CC}"/>
              </a:ext>
            </a:extLst>
          </p:cNvPr>
          <p:cNvSpPr/>
          <p:nvPr/>
        </p:nvSpPr>
        <p:spPr>
          <a:xfrm>
            <a:off x="8128000" y="3657600"/>
            <a:ext cx="9131300" cy="8890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400" tIns="50800" rIns="660400" bIns="50800" rtlCol="0" anchor="ctr"/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Đất dưới 30% và đã hết thời gian nghỉ → bật bơm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Rule dot 1">
            <a:extLst>
              <a:ext uri="{FF2B5EF4-FFF2-40B4-BE49-F238E27FC236}">
                <a16:creationId xmlns:a16="http://schemas.microsoft.com/office/drawing/2014/main" id="{83DF84C9-CE37-D51D-12BC-158C6C43B9B2}"/>
              </a:ext>
            </a:extLst>
          </p:cNvPr>
          <p:cNvSpPr/>
          <p:nvPr/>
        </p:nvSpPr>
        <p:spPr>
          <a:xfrm>
            <a:off x="8382000" y="39751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39A5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8" name="Rule 2">
            <a:extLst>
              <a:ext uri="{FF2B5EF4-FFF2-40B4-BE49-F238E27FC236}">
                <a16:creationId xmlns:a16="http://schemas.microsoft.com/office/drawing/2014/main" id="{09C7274F-434F-E6FF-0CF1-F92BC084FCB7}"/>
              </a:ext>
            </a:extLst>
          </p:cNvPr>
          <p:cNvSpPr/>
          <p:nvPr/>
        </p:nvSpPr>
        <p:spPr>
          <a:xfrm>
            <a:off x="8128000" y="4699000"/>
            <a:ext cx="9131300" cy="8890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400" tIns="50800" rIns="660400" bIns="50800" rtlCol="0" anchor="ctr"/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Đất trên 60% → tắt bơm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9" name="Rule dot 2">
            <a:extLst>
              <a:ext uri="{FF2B5EF4-FFF2-40B4-BE49-F238E27FC236}">
                <a16:creationId xmlns:a16="http://schemas.microsoft.com/office/drawing/2014/main" id="{24347F67-DE1C-8889-E67E-3E7AB3DD77B5}"/>
              </a:ext>
            </a:extLst>
          </p:cNvPr>
          <p:cNvSpPr/>
          <p:nvPr/>
        </p:nvSpPr>
        <p:spPr>
          <a:xfrm>
            <a:off x="8382000" y="50165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6FA8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Rule 3">
            <a:extLst>
              <a:ext uri="{FF2B5EF4-FFF2-40B4-BE49-F238E27FC236}">
                <a16:creationId xmlns:a16="http://schemas.microsoft.com/office/drawing/2014/main" id="{F4BA7E1B-2DA8-1EAA-4866-2B76CEAEF311}"/>
              </a:ext>
            </a:extLst>
          </p:cNvPr>
          <p:cNvSpPr/>
          <p:nvPr/>
        </p:nvSpPr>
        <p:spPr>
          <a:xfrm>
            <a:off x="8128000" y="5740400"/>
            <a:ext cx="9131300" cy="8890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400" tIns="50800" rIns="660400" bIns="50800" rtlCol="0" anchor="ctr"/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Từ 30% đến 60% → giữ nguyên, tránh bật/tắt liên tục</a:t>
            </a:r>
          </a:p>
        </p:txBody>
      </p:sp>
      <p:sp>
        <p:nvSpPr>
          <p:cNvPr id="11" name="Rule dot 3">
            <a:extLst>
              <a:ext uri="{FF2B5EF4-FFF2-40B4-BE49-F238E27FC236}">
                <a16:creationId xmlns:a16="http://schemas.microsoft.com/office/drawing/2014/main" id="{425B5966-A0AC-51BC-F8F6-3721DFAE5149}"/>
              </a:ext>
            </a:extLst>
          </p:cNvPr>
          <p:cNvSpPr/>
          <p:nvPr/>
        </p:nvSpPr>
        <p:spPr>
          <a:xfrm>
            <a:off x="8382000" y="60579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2" name="Code auto">
            <a:extLst>
              <a:ext uri="{FF2B5EF4-FFF2-40B4-BE49-F238E27FC236}">
                <a16:creationId xmlns:a16="http://schemas.microsoft.com/office/drawing/2014/main" id="{6080D52B-5DDE-955B-57FB-8A8BAC191488}"/>
              </a:ext>
            </a:extLst>
          </p:cNvPr>
          <p:cNvSpPr/>
          <p:nvPr/>
        </p:nvSpPr>
        <p:spPr>
          <a:xfrm>
            <a:off x="8128000" y="6858000"/>
            <a:ext cx="9131300" cy="6096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50800" rIns="254000" bIns="50800" rtlCol="0" anchor="ctr"/>
          <a:lstStyle/>
          <a:p>
            <a:r>
              <a:rPr lang="fr-FR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Server gửi: </a:t>
            </a:r>
            <a:r>
              <a:rPr lang="fr-FR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{"pump": true, "mode": "auto"}</a:t>
            </a:r>
            <a:endParaRPr lang="en-US">
              <a:solidFill>
                <a:srgbClr val="F2C94C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3" name="Safety">
            <a:extLst>
              <a:ext uri="{FF2B5EF4-FFF2-40B4-BE49-F238E27FC236}">
                <a16:creationId xmlns:a16="http://schemas.microsoft.com/office/drawing/2014/main" id="{9050C1A4-5FEF-6B03-F6FF-FD5509D6BBBB}"/>
              </a:ext>
            </a:extLst>
          </p:cNvPr>
          <p:cNvSpPr/>
          <p:nvPr/>
        </p:nvSpPr>
        <p:spPr>
          <a:xfrm>
            <a:off x="8128000" y="7696200"/>
            <a:ext cx="9131300" cy="14478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vi-VN" sz="2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• Chỉ chạy khi chế độ là auto</a:t>
            </a:r>
          </a:p>
          <a:p>
            <a:r>
              <a:rPr lang="vi-VN" sz="2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• Nghỉ giữa 2 lần tưới, bơm tự ngắt nếu chạy quá lâu</a:t>
            </a:r>
          </a:p>
          <a:p>
            <a:r>
              <a:rPr lang="vi-VN" sz="20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• Ngưỡng chỉnh được qua app hoặc AI (set_device_config)</a:t>
            </a:r>
            <a:endParaRPr lang="en-US" sz="2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cxnSp>
        <p:nvCxnSpPr>
          <p:cNvPr id="14" name="Threshold 60">
            <a:extLst>
              <a:ext uri="{FF2B5EF4-FFF2-40B4-BE49-F238E27FC236}">
                <a16:creationId xmlns:a16="http://schemas.microsoft.com/office/drawing/2014/main" id="{D07F3B24-CA6B-9394-C296-F3366A675293}"/>
              </a:ext>
            </a:extLst>
          </p:cNvPr>
          <p:cNvCxnSpPr/>
          <p:nvPr/>
        </p:nvCxnSpPr>
        <p:spPr>
          <a:xfrm>
            <a:off x="1778000" y="5852160"/>
            <a:ext cx="1270000" cy="0"/>
          </a:xfrm>
          <a:prstGeom prst="line">
            <a:avLst/>
          </a:prstGeom>
          <a:ln w="31750">
            <a:solidFill>
              <a:srgbClr val="5A7745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hreshold 30">
            <a:extLst>
              <a:ext uri="{FF2B5EF4-FFF2-40B4-BE49-F238E27FC236}">
                <a16:creationId xmlns:a16="http://schemas.microsoft.com/office/drawing/2014/main" id="{01B176BF-1E59-B1DC-1C1E-E7A84D575B10}"/>
              </a:ext>
            </a:extLst>
          </p:cNvPr>
          <p:cNvCxnSpPr/>
          <p:nvPr/>
        </p:nvCxnSpPr>
        <p:spPr>
          <a:xfrm>
            <a:off x="1778000" y="7498080"/>
            <a:ext cx="1270000" cy="0"/>
          </a:xfrm>
          <a:prstGeom prst="line">
            <a:avLst/>
          </a:prstGeom>
          <a:ln w="31750">
            <a:solidFill>
              <a:srgbClr val="5A7745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auge header">
            <a:extLst>
              <a:ext uri="{FF2B5EF4-FFF2-40B4-BE49-F238E27FC236}">
                <a16:creationId xmlns:a16="http://schemas.microsoft.com/office/drawing/2014/main" id="{8C88D790-0E64-958D-39FB-A005E17F48F5}"/>
              </a:ext>
            </a:extLst>
          </p:cNvPr>
          <p:cNvSpPr txBox="1"/>
          <p:nvPr/>
        </p:nvSpPr>
        <p:spPr>
          <a:xfrm>
            <a:off x="1028700" y="3048000"/>
            <a:ext cx="508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Độ ẩm đất</a:t>
            </a:r>
          </a:p>
        </p:txBody>
      </p:sp>
      <p:sp>
        <p:nvSpPr>
          <p:cNvPr id="17" name="Rules header">
            <a:extLst>
              <a:ext uri="{FF2B5EF4-FFF2-40B4-BE49-F238E27FC236}">
                <a16:creationId xmlns:a16="http://schemas.microsoft.com/office/drawing/2014/main" id="{17C8BAC4-C86B-83C1-7708-EDEF0D462000}"/>
              </a:ext>
            </a:extLst>
          </p:cNvPr>
          <p:cNvSpPr txBox="1"/>
          <p:nvPr/>
        </p:nvSpPr>
        <p:spPr>
          <a:xfrm>
            <a:off x="8128000" y="3048000"/>
            <a:ext cx="91313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Mỗi lần nhận dữ liệu (~10 giây), server kiểm tra:</a:t>
            </a:r>
          </a:p>
        </p:txBody>
      </p:sp>
      <p:sp>
        <p:nvSpPr>
          <p:cNvPr id="18" name="Axis 100">
            <a:extLst>
              <a:ext uri="{FF2B5EF4-FFF2-40B4-BE49-F238E27FC236}">
                <a16:creationId xmlns:a16="http://schemas.microsoft.com/office/drawing/2014/main" id="{D9F64644-A172-1313-8F07-ACBC1760F824}"/>
              </a:ext>
            </a:extLst>
          </p:cNvPr>
          <p:cNvSpPr txBox="1"/>
          <p:nvPr/>
        </p:nvSpPr>
        <p:spPr>
          <a:xfrm>
            <a:off x="1028700" y="3505200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100%</a:t>
            </a:r>
          </a:p>
        </p:txBody>
      </p:sp>
      <p:sp>
        <p:nvSpPr>
          <p:cNvPr id="19" name="Axis 60">
            <a:extLst>
              <a:ext uri="{FF2B5EF4-FFF2-40B4-BE49-F238E27FC236}">
                <a16:creationId xmlns:a16="http://schemas.microsoft.com/office/drawing/2014/main" id="{20DFBCA7-1388-B301-28AD-973755E58CE0}"/>
              </a:ext>
            </a:extLst>
          </p:cNvPr>
          <p:cNvSpPr txBox="1"/>
          <p:nvPr/>
        </p:nvSpPr>
        <p:spPr>
          <a:xfrm>
            <a:off x="1028700" y="5674360"/>
            <a:ext cx="76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60%</a:t>
            </a:r>
          </a:p>
        </p:txBody>
      </p:sp>
      <p:sp>
        <p:nvSpPr>
          <p:cNvPr id="20" name="Axis 30">
            <a:extLst>
              <a:ext uri="{FF2B5EF4-FFF2-40B4-BE49-F238E27FC236}">
                <a16:creationId xmlns:a16="http://schemas.microsoft.com/office/drawing/2014/main" id="{B1525AE1-8B95-E77C-C8A0-6444BEC2D29F}"/>
              </a:ext>
            </a:extLst>
          </p:cNvPr>
          <p:cNvSpPr txBox="1"/>
          <p:nvPr/>
        </p:nvSpPr>
        <p:spPr>
          <a:xfrm>
            <a:off x="1028700" y="7320280"/>
            <a:ext cx="76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30%</a:t>
            </a:r>
          </a:p>
        </p:txBody>
      </p:sp>
      <p:sp>
        <p:nvSpPr>
          <p:cNvPr id="21" name="Axis 0">
            <a:extLst>
              <a:ext uri="{FF2B5EF4-FFF2-40B4-BE49-F238E27FC236}">
                <a16:creationId xmlns:a16="http://schemas.microsoft.com/office/drawing/2014/main" id="{1BB61302-F24A-D619-622B-7F73039ECDFB}"/>
              </a:ext>
            </a:extLst>
          </p:cNvPr>
          <p:cNvSpPr txBox="1"/>
          <p:nvPr/>
        </p:nvSpPr>
        <p:spPr>
          <a:xfrm>
            <a:off x="1028700" y="8991600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0%</a:t>
            </a:r>
          </a:p>
        </p:txBody>
      </p:sp>
      <p:sp>
        <p:nvSpPr>
          <p:cNvPr id="22" name="Band wet text">
            <a:extLst>
              <a:ext uri="{FF2B5EF4-FFF2-40B4-BE49-F238E27FC236}">
                <a16:creationId xmlns:a16="http://schemas.microsoft.com/office/drawing/2014/main" id="{6CA597A3-CC9F-E179-F067-88F29747218A}"/>
              </a:ext>
            </a:extLst>
          </p:cNvPr>
          <p:cNvSpPr txBox="1"/>
          <p:nvPr/>
        </p:nvSpPr>
        <p:spPr>
          <a:xfrm>
            <a:off x="3200400" y="4323080"/>
            <a:ext cx="4318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Đủ ẩm</a:t>
            </a:r>
            <a:b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→ tắt bơm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3" name="Band mid text">
            <a:extLst>
              <a:ext uri="{FF2B5EF4-FFF2-40B4-BE49-F238E27FC236}">
                <a16:creationId xmlns:a16="http://schemas.microsoft.com/office/drawing/2014/main" id="{F9E2580B-3E37-6BAA-5084-3FA5B0321FE5}"/>
              </a:ext>
            </a:extLst>
          </p:cNvPr>
          <p:cNvSpPr txBox="1"/>
          <p:nvPr/>
        </p:nvSpPr>
        <p:spPr>
          <a:xfrm>
            <a:off x="3200400" y="6459220"/>
            <a:ext cx="431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Giữ nguyên</a:t>
            </a:r>
          </a:p>
        </p:txBody>
      </p:sp>
      <p:sp>
        <p:nvSpPr>
          <p:cNvPr id="24" name="Band dry text">
            <a:extLst>
              <a:ext uri="{FF2B5EF4-FFF2-40B4-BE49-F238E27FC236}">
                <a16:creationId xmlns:a16="http://schemas.microsoft.com/office/drawing/2014/main" id="{7C3AF027-708C-84ED-BC12-8C7A94E45D04}"/>
              </a:ext>
            </a:extLst>
          </p:cNvPr>
          <p:cNvSpPr txBox="1"/>
          <p:nvPr/>
        </p:nvSpPr>
        <p:spPr>
          <a:xfrm>
            <a:off x="3200400" y="7889240"/>
            <a:ext cx="4318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Khô</a:t>
            </a:r>
            <a:b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→ bật bơm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2" name="Progress seg 1">
            <a:extLst>
              <a:ext uri="{FF2B5EF4-FFF2-40B4-BE49-F238E27FC236}">
                <a16:creationId xmlns:a16="http://schemas.microsoft.com/office/drawing/2014/main" id="{0E3F7780-035F-AB0F-0409-29A110750F77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gress seg 2">
            <a:extLst>
              <a:ext uri="{FF2B5EF4-FFF2-40B4-BE49-F238E27FC236}">
                <a16:creationId xmlns:a16="http://schemas.microsoft.com/office/drawing/2014/main" id="{1033117B-29F6-9BC8-4C9C-48ADA4A90C74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gress seg 3">
            <a:extLst>
              <a:ext uri="{FF2B5EF4-FFF2-40B4-BE49-F238E27FC236}">
                <a16:creationId xmlns:a16="http://schemas.microsoft.com/office/drawing/2014/main" id="{0E19E409-9A78-AB88-D2B2-DA71F43BFC1E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gress seg 4">
            <a:extLst>
              <a:ext uri="{FF2B5EF4-FFF2-40B4-BE49-F238E27FC236}">
                <a16:creationId xmlns:a16="http://schemas.microsoft.com/office/drawing/2014/main" id="{A6AAD6C5-85E5-113A-7002-D9AB49F335B9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gress seg 5">
            <a:extLst>
              <a:ext uri="{FF2B5EF4-FFF2-40B4-BE49-F238E27FC236}">
                <a16:creationId xmlns:a16="http://schemas.microsoft.com/office/drawing/2014/main" id="{97D0BEAC-257F-6A95-06F6-1A67ADEE046C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gress seg 6">
            <a:extLst>
              <a:ext uri="{FF2B5EF4-FFF2-40B4-BE49-F238E27FC236}">
                <a16:creationId xmlns:a16="http://schemas.microsoft.com/office/drawing/2014/main" id="{F963B21C-93CD-47BE-8686-019B383F4769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rogress label">
            <a:extLst>
              <a:ext uri="{FF2B5EF4-FFF2-40B4-BE49-F238E27FC236}">
                <a16:creationId xmlns:a16="http://schemas.microsoft.com/office/drawing/2014/main" id="{6F54F464-1E34-27F0-96BD-79A02375FE76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it-IT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Chế độ auto</a:t>
            </a:r>
            <a:r>
              <a:rPr lang="it-IT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10 / 25</a:t>
            </a:r>
            <a:endParaRPr lang="en-US" sz="16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997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55E42C3-96C3-C0C1-0E80-F315815772AD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vi-VN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Cài đặt ngưỡng tưới</a:t>
            </a:r>
            <a:endParaRPr lang="en-US" sz="7999" b="1">
              <a:solidFill>
                <a:srgbClr val="6D8856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h card 1">
            <a:extLst>
              <a:ext uri="{FF2B5EF4-FFF2-40B4-BE49-F238E27FC236}">
                <a16:creationId xmlns:a16="http://schemas.microsoft.com/office/drawing/2014/main" id="{DFD906D1-876B-23E6-F7A7-B60498D78C22}"/>
              </a:ext>
            </a:extLst>
          </p:cNvPr>
          <p:cNvSpPr/>
          <p:nvPr/>
        </p:nvSpPr>
        <p:spPr>
          <a:xfrm>
            <a:off x="1028700" y="34290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Th card 2">
            <a:extLst>
              <a:ext uri="{FF2B5EF4-FFF2-40B4-BE49-F238E27FC236}">
                <a16:creationId xmlns:a16="http://schemas.microsoft.com/office/drawing/2014/main" id="{6FFD51B8-8C0A-CFE1-B2CF-2A7D319A91A9}"/>
              </a:ext>
            </a:extLst>
          </p:cNvPr>
          <p:cNvSpPr/>
          <p:nvPr/>
        </p:nvSpPr>
        <p:spPr>
          <a:xfrm>
            <a:off x="1028700" y="43942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5" name="Th card 3">
            <a:extLst>
              <a:ext uri="{FF2B5EF4-FFF2-40B4-BE49-F238E27FC236}">
                <a16:creationId xmlns:a16="http://schemas.microsoft.com/office/drawing/2014/main" id="{2C8FABB8-E288-CE03-2247-E627B2948B7F}"/>
              </a:ext>
            </a:extLst>
          </p:cNvPr>
          <p:cNvSpPr/>
          <p:nvPr/>
        </p:nvSpPr>
        <p:spPr>
          <a:xfrm>
            <a:off x="1028700" y="53594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Th card 4">
            <a:extLst>
              <a:ext uri="{FF2B5EF4-FFF2-40B4-BE49-F238E27FC236}">
                <a16:creationId xmlns:a16="http://schemas.microsoft.com/office/drawing/2014/main" id="{FEF955AF-7F6A-5974-109B-CE9718259863}"/>
              </a:ext>
            </a:extLst>
          </p:cNvPr>
          <p:cNvSpPr/>
          <p:nvPr/>
        </p:nvSpPr>
        <p:spPr>
          <a:xfrm>
            <a:off x="1028700" y="6324600"/>
            <a:ext cx="7620000" cy="812800"/>
          </a:xfrm>
          <a:prstGeom prst="roundRect">
            <a:avLst>
              <a:gd name="adj" fmla="val 18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Way app card">
            <a:extLst>
              <a:ext uri="{FF2B5EF4-FFF2-40B4-BE49-F238E27FC236}">
                <a16:creationId xmlns:a16="http://schemas.microsoft.com/office/drawing/2014/main" id="{D2B8D64A-6DE2-3F40-2082-EF671D9BAD08}"/>
              </a:ext>
            </a:extLst>
          </p:cNvPr>
          <p:cNvSpPr/>
          <p:nvPr/>
        </p:nvSpPr>
        <p:spPr>
          <a:xfrm>
            <a:off x="9398000" y="3429000"/>
            <a:ext cx="7861300" cy="1778000"/>
          </a:xfrm>
          <a:prstGeom prst="roundRect">
            <a:avLst>
              <a:gd name="adj" fmla="val 1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8" name="Way app code">
            <a:extLst>
              <a:ext uri="{FF2B5EF4-FFF2-40B4-BE49-F238E27FC236}">
                <a16:creationId xmlns:a16="http://schemas.microsoft.com/office/drawing/2014/main" id="{C54DDCDF-9E1E-E2C4-3446-F24E70595712}"/>
              </a:ext>
            </a:extLst>
          </p:cNvPr>
          <p:cNvSpPr/>
          <p:nvPr/>
        </p:nvSpPr>
        <p:spPr>
          <a:xfrm>
            <a:off x="9677400" y="4089400"/>
            <a:ext cx="7302500" cy="939800"/>
          </a:xfrm>
          <a:prstGeom prst="roundRect">
            <a:avLst>
              <a:gd name="adj" fmla="val 12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PUT /api/control/{id}/config</a:t>
            </a:r>
          </a:p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{"soil_on_pct": 25, "soil_off_pct": 65}</a:t>
            </a:r>
          </a:p>
        </p:txBody>
      </p:sp>
      <p:sp>
        <p:nvSpPr>
          <p:cNvPr id="9" name="Way ai card">
            <a:extLst>
              <a:ext uri="{FF2B5EF4-FFF2-40B4-BE49-F238E27FC236}">
                <a16:creationId xmlns:a16="http://schemas.microsoft.com/office/drawing/2014/main" id="{D0C688F3-B8F5-4CFF-0B1F-1D34C32C8E8E}"/>
              </a:ext>
            </a:extLst>
          </p:cNvPr>
          <p:cNvSpPr/>
          <p:nvPr/>
        </p:nvSpPr>
        <p:spPr>
          <a:xfrm>
            <a:off x="9398000" y="5359400"/>
            <a:ext cx="7861300" cy="1778000"/>
          </a:xfrm>
          <a:prstGeom prst="roundRect">
            <a:avLst>
              <a:gd name="adj" fmla="val 1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Way ai code">
            <a:extLst>
              <a:ext uri="{FF2B5EF4-FFF2-40B4-BE49-F238E27FC236}">
                <a16:creationId xmlns:a16="http://schemas.microsoft.com/office/drawing/2014/main" id="{868B78AC-60CD-2919-AC0E-5479411F97C1}"/>
              </a:ext>
            </a:extLst>
          </p:cNvPr>
          <p:cNvSpPr/>
          <p:nvPr/>
        </p:nvSpPr>
        <p:spPr>
          <a:xfrm>
            <a:off x="9677400" y="6019800"/>
            <a:ext cx="7302500" cy="939800"/>
          </a:xfrm>
          <a:prstGeom prst="roundRect">
            <a:avLst>
              <a:gd name="adj" fmla="val 12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MCP tool:</a:t>
            </a:r>
          </a:p>
          <a:p>
            <a:r>
              <a:rPr lang="en-US" sz="1700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set_device_config</a:t>
            </a:r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(soil_on_pct=25)</a:t>
            </a:r>
          </a:p>
        </p:txBody>
      </p:sp>
      <p:sp>
        <p:nvSpPr>
          <p:cNvPr id="11" name="Flow 1">
            <a:extLst>
              <a:ext uri="{FF2B5EF4-FFF2-40B4-BE49-F238E27FC236}">
                <a16:creationId xmlns:a16="http://schemas.microsoft.com/office/drawing/2014/main" id="{800E9350-6751-E216-E137-557A2E9A8869}"/>
              </a:ext>
            </a:extLst>
          </p:cNvPr>
          <p:cNvSpPr/>
          <p:nvPr/>
        </p:nvSpPr>
        <p:spPr>
          <a:xfrm>
            <a:off x="1028700" y="7823200"/>
            <a:ext cx="3556000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gửi {"config": …}</a:t>
            </a:r>
            <a:b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xuống xmini/control</a:t>
            </a:r>
          </a:p>
        </p:txBody>
      </p:sp>
      <p:sp>
        <p:nvSpPr>
          <p:cNvPr id="12" name="Flow 2">
            <a:extLst>
              <a:ext uri="{FF2B5EF4-FFF2-40B4-BE49-F238E27FC236}">
                <a16:creationId xmlns:a16="http://schemas.microsoft.com/office/drawing/2014/main" id="{4E9BE8F3-AE48-70C7-56A3-9936B5354DCC}"/>
              </a:ext>
            </a:extLst>
          </p:cNvPr>
          <p:cNvSpPr/>
          <p:nvPr/>
        </p:nvSpPr>
        <p:spPr>
          <a:xfrm>
            <a:off x="5253567" y="7823200"/>
            <a:ext cx="3555999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kiểm tra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và lưu vào bộ nhớ</a:t>
            </a:r>
            <a:endParaRPr lang="en-US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3" name="Flow 3">
            <a:extLst>
              <a:ext uri="{FF2B5EF4-FFF2-40B4-BE49-F238E27FC236}">
                <a16:creationId xmlns:a16="http://schemas.microsoft.com/office/drawing/2014/main" id="{40AFFCF9-55EB-B913-5100-045B6A025D6B}"/>
              </a:ext>
            </a:extLst>
          </p:cNvPr>
          <p:cNvSpPr/>
          <p:nvPr/>
        </p:nvSpPr>
        <p:spPr>
          <a:xfrm>
            <a:off x="9478433" y="7823200"/>
            <a:ext cx="3555999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báo lại</a:t>
            </a:r>
            <a:b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qua xmini/config</a:t>
            </a:r>
          </a:p>
        </p:txBody>
      </p:sp>
      <p:sp>
        <p:nvSpPr>
          <p:cNvPr id="14" name="Flow 4">
            <a:extLst>
              <a:ext uri="{FF2B5EF4-FFF2-40B4-BE49-F238E27FC236}">
                <a16:creationId xmlns:a16="http://schemas.microsoft.com/office/drawing/2014/main" id="{23C88A6B-151D-5EB8-4C5B-72697CE5D6E3}"/>
              </a:ext>
            </a:extLst>
          </p:cNvPr>
          <p:cNvSpPr/>
          <p:nvPr/>
        </p:nvSpPr>
        <p:spPr>
          <a:xfrm>
            <a:off x="13703300" y="7823200"/>
            <a:ext cx="3556000" cy="10160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50800" rIns="127000" bIns="50800" rtlCol="0" anchor="ctr"/>
          <a:lstStyle/>
          <a:p>
            <a:pPr algn="ctr"/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dùng ngưỡng mới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để tự tưới</a:t>
            </a:r>
            <a:endParaRPr lang="en-US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cxnSp>
        <p:nvCxnSpPr>
          <p:cNvPr id="15" name="Flow arrow 1">
            <a:extLst>
              <a:ext uri="{FF2B5EF4-FFF2-40B4-BE49-F238E27FC236}">
                <a16:creationId xmlns:a16="http://schemas.microsoft.com/office/drawing/2014/main" id="{459B3BE8-5E23-58DF-4C35-384597C3DAD9}"/>
              </a:ext>
            </a:extLst>
          </p:cNvPr>
          <p:cNvCxnSpPr/>
          <p:nvPr/>
        </p:nvCxnSpPr>
        <p:spPr>
          <a:xfrm>
            <a:off x="4686300" y="8331200"/>
            <a:ext cx="465667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Flow arrow 2">
            <a:extLst>
              <a:ext uri="{FF2B5EF4-FFF2-40B4-BE49-F238E27FC236}">
                <a16:creationId xmlns:a16="http://schemas.microsoft.com/office/drawing/2014/main" id="{2FA25D6A-5E43-A382-095B-2BA1A6B83F46}"/>
              </a:ext>
            </a:extLst>
          </p:cNvPr>
          <p:cNvCxnSpPr/>
          <p:nvPr/>
        </p:nvCxnSpPr>
        <p:spPr>
          <a:xfrm>
            <a:off x="8911167" y="8331200"/>
            <a:ext cx="465666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Flow arrow 3">
            <a:extLst>
              <a:ext uri="{FF2B5EF4-FFF2-40B4-BE49-F238E27FC236}">
                <a16:creationId xmlns:a16="http://schemas.microsoft.com/office/drawing/2014/main" id="{C2BDD268-B390-EBB5-7C2E-0865FBDA82FA}"/>
              </a:ext>
            </a:extLst>
          </p:cNvPr>
          <p:cNvCxnSpPr/>
          <p:nvPr/>
        </p:nvCxnSpPr>
        <p:spPr>
          <a:xfrm>
            <a:off x="13136034" y="8331200"/>
            <a:ext cx="465666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eft header">
            <a:extLst>
              <a:ext uri="{FF2B5EF4-FFF2-40B4-BE49-F238E27FC236}">
                <a16:creationId xmlns:a16="http://schemas.microsoft.com/office/drawing/2014/main" id="{8789D478-165A-AB0B-3DBB-9A7E3F464A04}"/>
              </a:ext>
            </a:extLst>
          </p:cNvPr>
          <p:cNvSpPr txBox="1"/>
          <p:nvPr/>
        </p:nvSpPr>
        <p:spPr>
          <a:xfrm>
            <a:off x="1028700" y="2819400"/>
            <a:ext cx="7620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Các ngưỡng chính (ví dụ)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9" name="Th key 1">
            <a:extLst>
              <a:ext uri="{FF2B5EF4-FFF2-40B4-BE49-F238E27FC236}">
                <a16:creationId xmlns:a16="http://schemas.microsoft.com/office/drawing/2014/main" id="{E2DA188A-B89A-3C4B-5B38-4D81D7B95AFE}"/>
              </a:ext>
            </a:extLst>
          </p:cNvPr>
          <p:cNvSpPr txBox="1"/>
          <p:nvPr/>
        </p:nvSpPr>
        <p:spPr>
          <a:xfrm>
            <a:off x="1282700" y="34290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soil_on_pct</a:t>
            </a:r>
          </a:p>
        </p:txBody>
      </p:sp>
      <p:sp>
        <p:nvSpPr>
          <p:cNvPr id="20" name="Th meaning 1">
            <a:extLst>
              <a:ext uri="{FF2B5EF4-FFF2-40B4-BE49-F238E27FC236}">
                <a16:creationId xmlns:a16="http://schemas.microsoft.com/office/drawing/2014/main" id="{58B0784D-A17B-3B06-35BF-0AF33D200264}"/>
              </a:ext>
            </a:extLst>
          </p:cNvPr>
          <p:cNvSpPr txBox="1"/>
          <p:nvPr/>
        </p:nvSpPr>
        <p:spPr>
          <a:xfrm>
            <a:off x="3949700" y="34290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Bật bơm khi đất dưới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1" name="Th value 1">
            <a:extLst>
              <a:ext uri="{FF2B5EF4-FFF2-40B4-BE49-F238E27FC236}">
                <a16:creationId xmlns:a16="http://schemas.microsoft.com/office/drawing/2014/main" id="{00FFCC1B-E447-019E-2190-B9789DC08D9D}"/>
              </a:ext>
            </a:extLst>
          </p:cNvPr>
          <p:cNvSpPr txBox="1"/>
          <p:nvPr/>
        </p:nvSpPr>
        <p:spPr>
          <a:xfrm>
            <a:off x="6997700" y="34290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30%</a:t>
            </a:r>
          </a:p>
        </p:txBody>
      </p:sp>
      <p:sp>
        <p:nvSpPr>
          <p:cNvPr id="22" name="Th key 2">
            <a:extLst>
              <a:ext uri="{FF2B5EF4-FFF2-40B4-BE49-F238E27FC236}">
                <a16:creationId xmlns:a16="http://schemas.microsoft.com/office/drawing/2014/main" id="{125D9BD1-7431-6301-FE1D-48D93FAAFA22}"/>
              </a:ext>
            </a:extLst>
          </p:cNvPr>
          <p:cNvSpPr txBox="1"/>
          <p:nvPr/>
        </p:nvSpPr>
        <p:spPr>
          <a:xfrm>
            <a:off x="1282700" y="43942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soil_off_pct</a:t>
            </a:r>
          </a:p>
        </p:txBody>
      </p:sp>
      <p:sp>
        <p:nvSpPr>
          <p:cNvPr id="23" name="Th meaning 2">
            <a:extLst>
              <a:ext uri="{FF2B5EF4-FFF2-40B4-BE49-F238E27FC236}">
                <a16:creationId xmlns:a16="http://schemas.microsoft.com/office/drawing/2014/main" id="{EED5005E-36F2-34A1-5904-6EDBFD5E152C}"/>
              </a:ext>
            </a:extLst>
          </p:cNvPr>
          <p:cNvSpPr txBox="1"/>
          <p:nvPr/>
        </p:nvSpPr>
        <p:spPr>
          <a:xfrm>
            <a:off x="3949700" y="43942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Tắt bơm khi đất trên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4" name="Th value 2">
            <a:extLst>
              <a:ext uri="{FF2B5EF4-FFF2-40B4-BE49-F238E27FC236}">
                <a16:creationId xmlns:a16="http://schemas.microsoft.com/office/drawing/2014/main" id="{2755BEBC-C3D5-704D-1CB3-79F405A1095B}"/>
              </a:ext>
            </a:extLst>
          </p:cNvPr>
          <p:cNvSpPr txBox="1"/>
          <p:nvPr/>
        </p:nvSpPr>
        <p:spPr>
          <a:xfrm>
            <a:off x="6997700" y="43942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60%</a:t>
            </a:r>
          </a:p>
        </p:txBody>
      </p:sp>
      <p:sp>
        <p:nvSpPr>
          <p:cNvPr id="25" name="Th key 3">
            <a:extLst>
              <a:ext uri="{FF2B5EF4-FFF2-40B4-BE49-F238E27FC236}">
                <a16:creationId xmlns:a16="http://schemas.microsoft.com/office/drawing/2014/main" id="{1B64EE0B-E238-5182-53F7-5B54BB7B29AB}"/>
              </a:ext>
            </a:extLst>
          </p:cNvPr>
          <p:cNvSpPr txBox="1"/>
          <p:nvPr/>
        </p:nvSpPr>
        <p:spPr>
          <a:xfrm>
            <a:off x="1282700" y="53594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pump_max_run_s</a:t>
            </a:r>
          </a:p>
        </p:txBody>
      </p:sp>
      <p:sp>
        <p:nvSpPr>
          <p:cNvPr id="26" name="Th meaning 3">
            <a:extLst>
              <a:ext uri="{FF2B5EF4-FFF2-40B4-BE49-F238E27FC236}">
                <a16:creationId xmlns:a16="http://schemas.microsoft.com/office/drawing/2014/main" id="{2445C0C1-9264-9BF5-4C56-9FAC9F7CF1F8}"/>
              </a:ext>
            </a:extLst>
          </p:cNvPr>
          <p:cNvSpPr txBox="1"/>
          <p:nvPr/>
        </p:nvSpPr>
        <p:spPr>
          <a:xfrm>
            <a:off x="3949700" y="53594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Mỗi lần tưới tối đa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7" name="Th value 3">
            <a:extLst>
              <a:ext uri="{FF2B5EF4-FFF2-40B4-BE49-F238E27FC236}">
                <a16:creationId xmlns:a16="http://schemas.microsoft.com/office/drawing/2014/main" id="{C11D1076-F0D3-BAD2-5D8C-9BC5A809A0FC}"/>
              </a:ext>
            </a:extLst>
          </p:cNvPr>
          <p:cNvSpPr txBox="1"/>
          <p:nvPr/>
        </p:nvSpPr>
        <p:spPr>
          <a:xfrm>
            <a:off x="6997700" y="53594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20 giây</a:t>
            </a:r>
          </a:p>
        </p:txBody>
      </p:sp>
      <p:sp>
        <p:nvSpPr>
          <p:cNvPr id="28" name="Th key 4">
            <a:extLst>
              <a:ext uri="{FF2B5EF4-FFF2-40B4-BE49-F238E27FC236}">
                <a16:creationId xmlns:a16="http://schemas.microsoft.com/office/drawing/2014/main" id="{5AA16925-CDE2-FFB6-9A65-61718AD24726}"/>
              </a:ext>
            </a:extLst>
          </p:cNvPr>
          <p:cNvSpPr txBox="1"/>
          <p:nvPr/>
        </p:nvSpPr>
        <p:spPr>
          <a:xfrm>
            <a:off x="1282700" y="6324600"/>
            <a:ext cx="266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>
                <a:solidFill>
                  <a:srgbClr val="5A7745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pump_cooldown_s</a:t>
            </a:r>
          </a:p>
        </p:txBody>
      </p:sp>
      <p:sp>
        <p:nvSpPr>
          <p:cNvPr id="29" name="Th meaning 4">
            <a:extLst>
              <a:ext uri="{FF2B5EF4-FFF2-40B4-BE49-F238E27FC236}">
                <a16:creationId xmlns:a16="http://schemas.microsoft.com/office/drawing/2014/main" id="{35EF4A5F-9D33-592F-8316-3A593293D256}"/>
              </a:ext>
            </a:extLst>
          </p:cNvPr>
          <p:cNvSpPr txBox="1"/>
          <p:nvPr/>
        </p:nvSpPr>
        <p:spPr>
          <a:xfrm>
            <a:off x="3949700" y="6324600"/>
            <a:ext cx="3175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Nghỉ giữa 2 lần tưới</a:t>
            </a:r>
            <a:endParaRPr lang="en-US" sz="2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0" name="Th value 4">
            <a:extLst>
              <a:ext uri="{FF2B5EF4-FFF2-40B4-BE49-F238E27FC236}">
                <a16:creationId xmlns:a16="http://schemas.microsoft.com/office/drawing/2014/main" id="{7295EF84-685B-867B-EFC1-2F42A33FEB55}"/>
              </a:ext>
            </a:extLst>
          </p:cNvPr>
          <p:cNvSpPr txBox="1"/>
          <p:nvPr/>
        </p:nvSpPr>
        <p:spPr>
          <a:xfrm>
            <a:off x="6997700" y="6324600"/>
            <a:ext cx="1397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30 phút</a:t>
            </a:r>
          </a:p>
        </p:txBody>
      </p:sp>
      <p:sp>
        <p:nvSpPr>
          <p:cNvPr id="31" name="Left note">
            <a:extLst>
              <a:ext uri="{FF2B5EF4-FFF2-40B4-BE49-F238E27FC236}">
                <a16:creationId xmlns:a16="http://schemas.microsoft.com/office/drawing/2014/main" id="{E22E9455-0472-F421-9674-9CEA8489AD54}"/>
              </a:ext>
            </a:extLst>
          </p:cNvPr>
          <p:cNvSpPr txBox="1"/>
          <p:nvPr/>
        </p:nvSpPr>
        <p:spPr>
          <a:xfrm>
            <a:off x="1028700" y="7289800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 lưu 15 ngưỡng: tưới, đèn, pin, hiệu chuẩn cảm biến</a:t>
            </a:r>
            <a:endParaRPr lang="en-US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2" name="Right header">
            <a:extLst>
              <a:ext uri="{FF2B5EF4-FFF2-40B4-BE49-F238E27FC236}">
                <a16:creationId xmlns:a16="http://schemas.microsoft.com/office/drawing/2014/main" id="{761E68BB-4658-B5EA-0172-90123799A051}"/>
              </a:ext>
            </a:extLst>
          </p:cNvPr>
          <p:cNvSpPr txBox="1"/>
          <p:nvPr/>
        </p:nvSpPr>
        <p:spPr>
          <a:xfrm>
            <a:off x="9398000" y="2819400"/>
            <a:ext cx="78613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 cách đổi ngưỡng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3" name="Way app title">
            <a:extLst>
              <a:ext uri="{FF2B5EF4-FFF2-40B4-BE49-F238E27FC236}">
                <a16:creationId xmlns:a16="http://schemas.microsoft.com/office/drawing/2014/main" id="{7DC7E35B-63F4-AB74-68FE-A595B2F4555F}"/>
              </a:ext>
            </a:extLst>
          </p:cNvPr>
          <p:cNvSpPr txBox="1"/>
          <p:nvPr/>
        </p:nvSpPr>
        <p:spPr>
          <a:xfrm>
            <a:off x="9677400" y="3556000"/>
            <a:ext cx="7302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Qua app / dashboard</a:t>
            </a:r>
          </a:p>
        </p:txBody>
      </p:sp>
      <p:sp>
        <p:nvSpPr>
          <p:cNvPr id="34" name="Way ai title">
            <a:extLst>
              <a:ext uri="{FF2B5EF4-FFF2-40B4-BE49-F238E27FC236}">
                <a16:creationId xmlns:a16="http://schemas.microsoft.com/office/drawing/2014/main" id="{3332F7BA-1CFF-C6C7-C1C2-2C8328EB9D8E}"/>
              </a:ext>
            </a:extLst>
          </p:cNvPr>
          <p:cNvSpPr txBox="1"/>
          <p:nvPr/>
        </p:nvSpPr>
        <p:spPr>
          <a:xfrm>
            <a:off x="9677400" y="5486400"/>
            <a:ext cx="7302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it-IT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Qua AI: “Tưới khi đất dưới 25% nhé”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2" name="Progress seg 1">
            <a:extLst>
              <a:ext uri="{FF2B5EF4-FFF2-40B4-BE49-F238E27FC236}">
                <a16:creationId xmlns:a16="http://schemas.microsoft.com/office/drawing/2014/main" id="{0D6CC696-4513-1B76-475A-84C7877BC1E3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rogress seg 2">
            <a:extLst>
              <a:ext uri="{FF2B5EF4-FFF2-40B4-BE49-F238E27FC236}">
                <a16:creationId xmlns:a16="http://schemas.microsoft.com/office/drawing/2014/main" id="{7AFEEFD5-FD7D-2FF5-D1E3-02B83400107A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rogress seg 3">
            <a:extLst>
              <a:ext uri="{FF2B5EF4-FFF2-40B4-BE49-F238E27FC236}">
                <a16:creationId xmlns:a16="http://schemas.microsoft.com/office/drawing/2014/main" id="{367A5C71-BB27-F2D6-C01F-A4D4E6F9B982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rogress seg 4">
            <a:extLst>
              <a:ext uri="{FF2B5EF4-FFF2-40B4-BE49-F238E27FC236}">
                <a16:creationId xmlns:a16="http://schemas.microsoft.com/office/drawing/2014/main" id="{622F7895-0A17-531B-B8BF-62D2C6E02E26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rogress seg 5">
            <a:extLst>
              <a:ext uri="{FF2B5EF4-FFF2-40B4-BE49-F238E27FC236}">
                <a16:creationId xmlns:a16="http://schemas.microsoft.com/office/drawing/2014/main" id="{79C5F805-CCAC-6F8E-03E3-47CEA88BA64A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rogress seg 6">
            <a:extLst>
              <a:ext uri="{FF2B5EF4-FFF2-40B4-BE49-F238E27FC236}">
                <a16:creationId xmlns:a16="http://schemas.microsoft.com/office/drawing/2014/main" id="{75E2AB25-872E-7A79-2676-1BBF6D8579D9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rogress label">
            <a:extLst>
              <a:ext uri="{FF2B5EF4-FFF2-40B4-BE49-F238E27FC236}">
                <a16:creationId xmlns:a16="http://schemas.microsoft.com/office/drawing/2014/main" id="{24868353-32A7-4228-A7A2-E299B2DF2DD1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it-IT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Chế độ auto</a:t>
            </a:r>
            <a:r>
              <a:rPr lang="it-IT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11 / 25</a:t>
            </a:r>
            <a:endParaRPr lang="en-US" sz="16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275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69" b="-85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860"/>
            <a:ext cx="6311900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500"/>
            <a:ext cx="10414000" cy="270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01"/>
              </a:lnSpc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Người dùng chỉ cần nói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“tưới cây giúp tôi”,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hệ thống hoạt động thế nào?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sp>
        <p:nvSpPr>
          <p:cNvPr id="12" name="Progress seg 1">
            <a:extLst>
              <a:ext uri="{FF2B5EF4-FFF2-40B4-BE49-F238E27FC236}">
                <a16:creationId xmlns:a16="http://schemas.microsoft.com/office/drawing/2014/main" id="{CAFA1457-48C3-D7CD-074C-EBA5023A47AC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2">
            <a:extLst>
              <a:ext uri="{FF2B5EF4-FFF2-40B4-BE49-F238E27FC236}">
                <a16:creationId xmlns:a16="http://schemas.microsoft.com/office/drawing/2014/main" id="{9AA543F6-BD88-4810-8186-89D281A8A19F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3">
            <a:extLst>
              <a:ext uri="{FF2B5EF4-FFF2-40B4-BE49-F238E27FC236}">
                <a16:creationId xmlns:a16="http://schemas.microsoft.com/office/drawing/2014/main" id="{E6F8ABFE-4731-0A00-0A4E-E11A1AC36C79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4">
            <a:extLst>
              <a:ext uri="{FF2B5EF4-FFF2-40B4-BE49-F238E27FC236}">
                <a16:creationId xmlns:a16="http://schemas.microsoft.com/office/drawing/2014/main" id="{F9C9E7FB-4553-692C-8230-5544D3B3AECA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5">
            <a:extLst>
              <a:ext uri="{FF2B5EF4-FFF2-40B4-BE49-F238E27FC236}">
                <a16:creationId xmlns:a16="http://schemas.microsoft.com/office/drawing/2014/main" id="{AD790505-D87A-A0D9-922A-404A6FC9D991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6">
            <a:extLst>
              <a:ext uri="{FF2B5EF4-FFF2-40B4-BE49-F238E27FC236}">
                <a16:creationId xmlns:a16="http://schemas.microsoft.com/office/drawing/2014/main" id="{ED6D9906-84C5-34EE-B823-FE0AE1617914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label">
            <a:extLst>
              <a:ext uri="{FF2B5EF4-FFF2-40B4-BE49-F238E27FC236}">
                <a16:creationId xmlns:a16="http://schemas.microsoft.com/office/drawing/2014/main" id="{1B499DC5-EB14-4EB9-C7E8-1FEDA00FEC08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1028700" y="914237"/>
            <a:ext cx="16230600" cy="138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Từ câu nói đến API</a:t>
            </a:r>
          </a:p>
        </p:txBody>
      </p:sp>
      <p:sp>
        <p:nvSpPr>
          <p:cNvPr id="27" name="Say 1">
            <a:extLst>
              <a:ext uri="{FF2B5EF4-FFF2-40B4-BE49-F238E27FC236}">
                <a16:creationId xmlns:a16="http://schemas.microsoft.com/office/drawing/2014/main" id="{6D1DAA33-FF49-F2E1-06BF-3CA2A971D7D4}"/>
              </a:ext>
            </a:extLst>
          </p:cNvPr>
          <p:cNvSpPr/>
          <p:nvPr/>
        </p:nvSpPr>
        <p:spPr>
          <a:xfrm>
            <a:off x="1028700" y="3492500"/>
            <a:ext cx="6858000" cy="1079500"/>
          </a:xfrm>
          <a:prstGeom prst="roundRect">
            <a:avLst>
              <a:gd name="adj" fmla="val 2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vi-VN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“Cây của tôi có cần tưới nước không?”</a:t>
            </a:r>
            <a:endParaRPr lang="en-US" sz="26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8" name="Api 1">
            <a:extLst>
              <a:ext uri="{FF2B5EF4-FFF2-40B4-BE49-F238E27FC236}">
                <a16:creationId xmlns:a16="http://schemas.microsoft.com/office/drawing/2014/main" id="{27E93602-59B5-483B-B0E7-325D8F1F25D9}"/>
              </a:ext>
            </a:extLst>
          </p:cNvPr>
          <p:cNvSpPr/>
          <p:nvPr/>
        </p:nvSpPr>
        <p:spPr>
          <a:xfrm>
            <a:off x="9906000" y="3492500"/>
            <a:ext cx="7353300" cy="10795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it-IT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GET /api/sensordata/latest/{id}</a:t>
            </a:r>
            <a:endParaRPr lang="en-US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29" name="Say 2">
            <a:extLst>
              <a:ext uri="{FF2B5EF4-FFF2-40B4-BE49-F238E27FC236}">
                <a16:creationId xmlns:a16="http://schemas.microsoft.com/office/drawing/2014/main" id="{402F85FD-BEF6-D505-168B-C0FF5BFC80CE}"/>
              </a:ext>
            </a:extLst>
          </p:cNvPr>
          <p:cNvSpPr/>
          <p:nvPr/>
        </p:nvSpPr>
        <p:spPr>
          <a:xfrm>
            <a:off x="1028700" y="4826000"/>
            <a:ext cx="6858000" cy="1079500"/>
          </a:xfrm>
          <a:prstGeom prst="roundRect">
            <a:avLst>
              <a:gd name="adj" fmla="val 2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vi-VN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“Bạn ơi, tưới nước giúp tôi”</a:t>
            </a:r>
            <a:endParaRPr lang="en-US" sz="26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0" name="Api 2">
            <a:extLst>
              <a:ext uri="{FF2B5EF4-FFF2-40B4-BE49-F238E27FC236}">
                <a16:creationId xmlns:a16="http://schemas.microsoft.com/office/drawing/2014/main" id="{DD280E9D-AC3C-4F65-08A4-10284DE8CFD1}"/>
              </a:ext>
            </a:extLst>
          </p:cNvPr>
          <p:cNvSpPr/>
          <p:nvPr/>
        </p:nvSpPr>
        <p:spPr>
          <a:xfrm>
            <a:off x="9906000" y="4826000"/>
            <a:ext cx="7353300" cy="10795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POST /api/control/{id} {"pump": true}</a:t>
            </a:r>
          </a:p>
        </p:txBody>
      </p:sp>
      <p:sp>
        <p:nvSpPr>
          <p:cNvPr id="31" name="Say 3">
            <a:extLst>
              <a:ext uri="{FF2B5EF4-FFF2-40B4-BE49-F238E27FC236}">
                <a16:creationId xmlns:a16="http://schemas.microsoft.com/office/drawing/2014/main" id="{B0D922FC-584B-3969-AB1A-8AE4CAC1F7D5}"/>
              </a:ext>
            </a:extLst>
          </p:cNvPr>
          <p:cNvSpPr/>
          <p:nvPr/>
        </p:nvSpPr>
        <p:spPr>
          <a:xfrm>
            <a:off x="1028700" y="6159500"/>
            <a:ext cx="6858000" cy="1079500"/>
          </a:xfrm>
          <a:prstGeom prst="roundRect">
            <a:avLst>
              <a:gd name="adj" fmla="val 2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50800" rIns="304800" bIns="50800" rtlCol="0" anchor="ctr"/>
          <a:lstStyle/>
          <a:p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“Trời sáng rồi, tắt đèn đi”</a:t>
            </a:r>
          </a:p>
        </p:txBody>
      </p:sp>
      <p:sp>
        <p:nvSpPr>
          <p:cNvPr id="32" name="Api 3">
            <a:extLst>
              <a:ext uri="{FF2B5EF4-FFF2-40B4-BE49-F238E27FC236}">
                <a16:creationId xmlns:a16="http://schemas.microsoft.com/office/drawing/2014/main" id="{FDDAEFFD-2BFE-97E5-B579-9FEC60F9085D}"/>
              </a:ext>
            </a:extLst>
          </p:cNvPr>
          <p:cNvSpPr/>
          <p:nvPr/>
        </p:nvSpPr>
        <p:spPr>
          <a:xfrm>
            <a:off x="9906000" y="6159500"/>
            <a:ext cx="7353300" cy="10795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en-US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POST /api/control/{id} {"light": false}</a:t>
            </a:r>
          </a:p>
        </p:txBody>
      </p:sp>
      <p:sp>
        <p:nvSpPr>
          <p:cNvPr id="33" name="Punchline">
            <a:extLst>
              <a:ext uri="{FF2B5EF4-FFF2-40B4-BE49-F238E27FC236}">
                <a16:creationId xmlns:a16="http://schemas.microsoft.com/office/drawing/2014/main" id="{CAD34AFE-DB18-2A4B-6317-54630CC6F737}"/>
              </a:ext>
            </a:extLst>
          </p:cNvPr>
          <p:cNvSpPr/>
          <p:nvPr/>
        </p:nvSpPr>
        <p:spPr>
          <a:xfrm>
            <a:off x="3429000" y="7874000"/>
            <a:ext cx="11430000" cy="838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sẽ “dịch” câu nói thành API request?  →  MCP Server</a:t>
            </a:r>
          </a:p>
        </p:txBody>
      </p:sp>
      <p:cxnSp>
        <p:nvCxnSpPr>
          <p:cNvPr id="34" name="Arrow 1">
            <a:extLst>
              <a:ext uri="{FF2B5EF4-FFF2-40B4-BE49-F238E27FC236}">
                <a16:creationId xmlns:a16="http://schemas.microsoft.com/office/drawing/2014/main" id="{0AEAC031-26EB-BF17-6E60-E6D5B86FC4E9}"/>
              </a:ext>
            </a:extLst>
          </p:cNvPr>
          <p:cNvCxnSpPr/>
          <p:nvPr/>
        </p:nvCxnSpPr>
        <p:spPr>
          <a:xfrm>
            <a:off x="8089900" y="4032250"/>
            <a:ext cx="16129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Arrow 2">
            <a:extLst>
              <a:ext uri="{FF2B5EF4-FFF2-40B4-BE49-F238E27FC236}">
                <a16:creationId xmlns:a16="http://schemas.microsoft.com/office/drawing/2014/main" id="{88BF0CB9-B770-D1B9-9429-C613774DAD70}"/>
              </a:ext>
            </a:extLst>
          </p:cNvPr>
          <p:cNvCxnSpPr/>
          <p:nvPr/>
        </p:nvCxnSpPr>
        <p:spPr>
          <a:xfrm>
            <a:off x="8089900" y="5365750"/>
            <a:ext cx="16129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Arrow 3">
            <a:extLst>
              <a:ext uri="{FF2B5EF4-FFF2-40B4-BE49-F238E27FC236}">
                <a16:creationId xmlns:a16="http://schemas.microsoft.com/office/drawing/2014/main" id="{712F039E-917E-FA08-7345-1D10658BDA4E}"/>
              </a:ext>
            </a:extLst>
          </p:cNvPr>
          <p:cNvCxnSpPr/>
          <p:nvPr/>
        </p:nvCxnSpPr>
        <p:spPr>
          <a:xfrm>
            <a:off x="8089900" y="6699250"/>
            <a:ext cx="1612900" cy="0"/>
          </a:xfrm>
          <a:prstGeom prst="line">
            <a:avLst/>
          </a:prstGeom>
          <a:ln w="38100">
            <a:solidFill>
              <a:srgbClr val="5A7745"/>
            </a:solidFill>
            <a:prstDash val="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Header say">
            <a:extLst>
              <a:ext uri="{FF2B5EF4-FFF2-40B4-BE49-F238E27FC236}">
                <a16:creationId xmlns:a16="http://schemas.microsoft.com/office/drawing/2014/main" id="{3C32893B-7A9A-AB62-F4BE-02F889C15CFC}"/>
              </a:ext>
            </a:extLst>
          </p:cNvPr>
          <p:cNvSpPr txBox="1"/>
          <p:nvPr/>
        </p:nvSpPr>
        <p:spPr>
          <a:xfrm>
            <a:off x="1028700" y="2819400"/>
            <a:ext cx="685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Người dùng nói</a:t>
            </a:r>
            <a:endParaRPr lang="en-US" sz="2800" b="1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8" name="Header api">
            <a:extLst>
              <a:ext uri="{FF2B5EF4-FFF2-40B4-BE49-F238E27FC236}">
                <a16:creationId xmlns:a16="http://schemas.microsoft.com/office/drawing/2014/main" id="{0DF64F0B-59ED-6F29-D4BB-08BF68860F38}"/>
              </a:ext>
            </a:extLst>
          </p:cNvPr>
          <p:cNvSpPr txBox="1"/>
          <p:nvPr/>
        </p:nvSpPr>
        <p:spPr>
          <a:xfrm>
            <a:off x="9906000" y="2819400"/>
            <a:ext cx="73533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cần</a:t>
            </a:r>
          </a:p>
        </p:txBody>
      </p:sp>
      <p:sp>
        <p:nvSpPr>
          <p:cNvPr id="46" name="Progress seg 1">
            <a:extLst>
              <a:ext uri="{FF2B5EF4-FFF2-40B4-BE49-F238E27FC236}">
                <a16:creationId xmlns:a16="http://schemas.microsoft.com/office/drawing/2014/main" id="{8E16BDF1-4768-1A50-6C4F-E28281194E6F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rogress seg 2">
            <a:extLst>
              <a:ext uri="{FF2B5EF4-FFF2-40B4-BE49-F238E27FC236}">
                <a16:creationId xmlns:a16="http://schemas.microsoft.com/office/drawing/2014/main" id="{83D0FA82-4C51-2912-DB0D-3744C74D2041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rogress seg 3">
            <a:extLst>
              <a:ext uri="{FF2B5EF4-FFF2-40B4-BE49-F238E27FC236}">
                <a16:creationId xmlns:a16="http://schemas.microsoft.com/office/drawing/2014/main" id="{6C395CBB-E3DA-7A7C-8B8A-F9A678639471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rogress seg 4">
            <a:extLst>
              <a:ext uri="{FF2B5EF4-FFF2-40B4-BE49-F238E27FC236}">
                <a16:creationId xmlns:a16="http://schemas.microsoft.com/office/drawing/2014/main" id="{E4265F46-0DAD-EF0C-1B6C-D5665BBB2304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rogress seg 5">
            <a:extLst>
              <a:ext uri="{FF2B5EF4-FFF2-40B4-BE49-F238E27FC236}">
                <a16:creationId xmlns:a16="http://schemas.microsoft.com/office/drawing/2014/main" id="{2ABAEC09-6A9F-7562-A7E5-C51ED3FCEA73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rogress seg 6">
            <a:extLst>
              <a:ext uri="{FF2B5EF4-FFF2-40B4-BE49-F238E27FC236}">
                <a16:creationId xmlns:a16="http://schemas.microsoft.com/office/drawing/2014/main" id="{8AE8F14E-55E4-2F21-3AE5-638DF57FBB6B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rogress label">
            <a:extLst>
              <a:ext uri="{FF2B5EF4-FFF2-40B4-BE49-F238E27FC236}">
                <a16:creationId xmlns:a16="http://schemas.microsoft.com/office/drawing/2014/main" id="{DFB376DF-ECE0-E312-721D-87433325D632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3D4076-0B24-C42F-608E-6104BFC3371D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Vì sao cần MCP Server?</a:t>
            </a:r>
          </a:p>
        </p:txBody>
      </p:sp>
      <p:sp>
        <p:nvSpPr>
          <p:cNvPr id="3" name="Problem 1">
            <a:extLst>
              <a:ext uri="{FF2B5EF4-FFF2-40B4-BE49-F238E27FC236}">
                <a16:creationId xmlns:a16="http://schemas.microsoft.com/office/drawing/2014/main" id="{3918D3F3-0A0A-E73F-824B-F86430BF6D50}"/>
              </a:ext>
            </a:extLst>
          </p:cNvPr>
          <p:cNvSpPr/>
          <p:nvPr/>
        </p:nvSpPr>
        <p:spPr>
          <a:xfrm>
            <a:off x="1028700" y="3454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vi-VN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Câu lệnh mỗi người nói một kiểu</a:t>
            </a:r>
            <a:endParaRPr lang="en-US" sz="26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Solution 1">
            <a:extLst>
              <a:ext uri="{FF2B5EF4-FFF2-40B4-BE49-F238E27FC236}">
                <a16:creationId xmlns:a16="http://schemas.microsoft.com/office/drawing/2014/main" id="{7D325876-1861-166F-1C38-F2D8B861964C}"/>
              </a:ext>
            </a:extLst>
          </p:cNvPr>
          <p:cNvSpPr/>
          <p:nvPr/>
        </p:nvSpPr>
        <p:spPr>
          <a:xfrm>
            <a:off x="10147300" y="3454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hiểu ý định và tự chọn tool phù hợp</a:t>
            </a:r>
          </a:p>
        </p:txBody>
      </p:sp>
      <p:sp>
        <p:nvSpPr>
          <p:cNvPr id="5" name="Problem 2">
            <a:extLst>
              <a:ext uri="{FF2B5EF4-FFF2-40B4-BE49-F238E27FC236}">
                <a16:creationId xmlns:a16="http://schemas.microsoft.com/office/drawing/2014/main" id="{B6D2C54C-39EA-3022-C5C8-D691744B7AAF}"/>
              </a:ext>
            </a:extLst>
          </p:cNvPr>
          <p:cNvSpPr/>
          <p:nvPr/>
        </p:nvSpPr>
        <p:spPr>
          <a:xfrm>
            <a:off x="1028700" y="50419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chỉ hiểu API request</a:t>
            </a:r>
            <a:b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(URL + payload)</a:t>
            </a:r>
          </a:p>
        </p:txBody>
      </p:sp>
      <p:sp>
        <p:nvSpPr>
          <p:cNvPr id="6" name="Solution 2">
            <a:extLst>
              <a:ext uri="{FF2B5EF4-FFF2-40B4-BE49-F238E27FC236}">
                <a16:creationId xmlns:a16="http://schemas.microsoft.com/office/drawing/2014/main" id="{D2A37122-7101-0C19-1131-983682498405}"/>
              </a:ext>
            </a:extLst>
          </p:cNvPr>
          <p:cNvSpPr/>
          <p:nvPr/>
        </p:nvSpPr>
        <p:spPr>
          <a:xfrm>
            <a:off x="10147300" y="50419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vi-VN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Mỗi tool được map sẵn sang một API</a:t>
            </a:r>
            <a:endParaRPr lang="en-US" sz="26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Problem 3">
            <a:extLst>
              <a:ext uri="{FF2B5EF4-FFF2-40B4-BE49-F238E27FC236}">
                <a16:creationId xmlns:a16="http://schemas.microsoft.com/office/drawing/2014/main" id="{26F98957-322C-CE0C-CACA-23BC4DD5D007}"/>
              </a:ext>
            </a:extLst>
          </p:cNvPr>
          <p:cNvSpPr/>
          <p:nvPr/>
        </p:nvSpPr>
        <p:spPr>
          <a:xfrm>
            <a:off x="1028700" y="6629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URL và payload phức tạp, AI dễ gọi sai</a:t>
            </a:r>
          </a:p>
        </p:txBody>
      </p:sp>
      <p:sp>
        <p:nvSpPr>
          <p:cNvPr id="8" name="Solution 3">
            <a:extLst>
              <a:ext uri="{FF2B5EF4-FFF2-40B4-BE49-F238E27FC236}">
                <a16:creationId xmlns:a16="http://schemas.microsoft.com/office/drawing/2014/main" id="{A2C94457-B447-5896-E6AF-85FF8C2ED49E}"/>
              </a:ext>
            </a:extLst>
          </p:cNvPr>
          <p:cNvSpPr/>
          <p:nvPr/>
        </p:nvSpPr>
        <p:spPr>
          <a:xfrm>
            <a:off x="10147300" y="6629400"/>
            <a:ext cx="7112000" cy="1333500"/>
          </a:xfrm>
          <a:prstGeom prst="roundRect">
            <a:avLst>
              <a:gd name="adj" fmla="val 15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0200" tIns="50800" rIns="330200" bIns="50800" rtlCol="0" anchor="ctr"/>
          <a:lstStyle/>
          <a:p>
            <a: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Tool có tên và mô tả rõ:</a:t>
            </a:r>
            <a:b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en-US" sz="2600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get_latest_sensor, set_pump</a:t>
            </a:r>
          </a:p>
        </p:txBody>
      </p:sp>
      <p:cxnSp>
        <p:nvCxnSpPr>
          <p:cNvPr id="9" name="Arrow 1">
            <a:extLst>
              <a:ext uri="{FF2B5EF4-FFF2-40B4-BE49-F238E27FC236}">
                <a16:creationId xmlns:a16="http://schemas.microsoft.com/office/drawing/2014/main" id="{954A8666-46EC-D1BE-D35A-4A915CD854B0}"/>
              </a:ext>
            </a:extLst>
          </p:cNvPr>
          <p:cNvCxnSpPr/>
          <p:nvPr/>
        </p:nvCxnSpPr>
        <p:spPr>
          <a:xfrm>
            <a:off x="8343900" y="4121150"/>
            <a:ext cx="16002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ow 2">
            <a:extLst>
              <a:ext uri="{FF2B5EF4-FFF2-40B4-BE49-F238E27FC236}">
                <a16:creationId xmlns:a16="http://schemas.microsoft.com/office/drawing/2014/main" id="{B63A4B55-8105-7216-2EE9-236FAE3F5834}"/>
              </a:ext>
            </a:extLst>
          </p:cNvPr>
          <p:cNvCxnSpPr/>
          <p:nvPr/>
        </p:nvCxnSpPr>
        <p:spPr>
          <a:xfrm>
            <a:off x="8343900" y="5708650"/>
            <a:ext cx="16002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Arrow 3">
            <a:extLst>
              <a:ext uri="{FF2B5EF4-FFF2-40B4-BE49-F238E27FC236}">
                <a16:creationId xmlns:a16="http://schemas.microsoft.com/office/drawing/2014/main" id="{943A3782-ACBE-654E-0370-4CE05D3B522D}"/>
              </a:ext>
            </a:extLst>
          </p:cNvPr>
          <p:cNvCxnSpPr/>
          <p:nvPr/>
        </p:nvCxnSpPr>
        <p:spPr>
          <a:xfrm>
            <a:off x="8343900" y="7296150"/>
            <a:ext cx="16002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eader problem">
            <a:extLst>
              <a:ext uri="{FF2B5EF4-FFF2-40B4-BE49-F238E27FC236}">
                <a16:creationId xmlns:a16="http://schemas.microsoft.com/office/drawing/2014/main" id="{E00E02F1-2226-9CE1-6AC0-6DE92D82EF08}"/>
              </a:ext>
            </a:extLst>
          </p:cNvPr>
          <p:cNvSpPr txBox="1"/>
          <p:nvPr/>
        </p:nvSpPr>
        <p:spPr>
          <a:xfrm>
            <a:off x="1028700" y="27686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Vấn đề</a:t>
            </a:r>
          </a:p>
        </p:txBody>
      </p:sp>
      <p:sp>
        <p:nvSpPr>
          <p:cNvPr id="13" name="Header solution">
            <a:extLst>
              <a:ext uri="{FF2B5EF4-FFF2-40B4-BE49-F238E27FC236}">
                <a16:creationId xmlns:a16="http://schemas.microsoft.com/office/drawing/2014/main" id="{9F7AC90A-6155-1C3B-DDF2-01307F632E5B}"/>
              </a:ext>
            </a:extLst>
          </p:cNvPr>
          <p:cNvSpPr txBox="1"/>
          <p:nvPr/>
        </p:nvSpPr>
        <p:spPr>
          <a:xfrm>
            <a:off x="10147300" y="2768600"/>
            <a:ext cx="711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 giải quyết</a:t>
            </a:r>
          </a:p>
        </p:txBody>
      </p:sp>
      <p:sp>
        <p:nvSpPr>
          <p:cNvPr id="21" name="Progress seg 1">
            <a:extLst>
              <a:ext uri="{FF2B5EF4-FFF2-40B4-BE49-F238E27FC236}">
                <a16:creationId xmlns:a16="http://schemas.microsoft.com/office/drawing/2014/main" id="{B04BF017-2A54-D621-BD66-9CBEE998FDBD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gress seg 2">
            <a:extLst>
              <a:ext uri="{FF2B5EF4-FFF2-40B4-BE49-F238E27FC236}">
                <a16:creationId xmlns:a16="http://schemas.microsoft.com/office/drawing/2014/main" id="{8A7396B2-9D6E-EE7B-B07A-A4285969A349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rogress seg 3">
            <a:extLst>
              <a:ext uri="{FF2B5EF4-FFF2-40B4-BE49-F238E27FC236}">
                <a16:creationId xmlns:a16="http://schemas.microsoft.com/office/drawing/2014/main" id="{0640585F-C13B-DDBE-C6C2-326D3286419A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rogress seg 4">
            <a:extLst>
              <a:ext uri="{FF2B5EF4-FFF2-40B4-BE49-F238E27FC236}">
                <a16:creationId xmlns:a16="http://schemas.microsoft.com/office/drawing/2014/main" id="{C5BE9EF7-7A98-C57C-4542-05FD209816FA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rogress seg 5">
            <a:extLst>
              <a:ext uri="{FF2B5EF4-FFF2-40B4-BE49-F238E27FC236}">
                <a16:creationId xmlns:a16="http://schemas.microsoft.com/office/drawing/2014/main" id="{845BC935-A218-96A2-3EDF-90DC610666D5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6">
            <a:extLst>
              <a:ext uri="{FF2B5EF4-FFF2-40B4-BE49-F238E27FC236}">
                <a16:creationId xmlns:a16="http://schemas.microsoft.com/office/drawing/2014/main" id="{CD56ADA5-BC8D-481D-C5E6-00985E0B349E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label">
            <a:extLst>
              <a:ext uri="{FF2B5EF4-FFF2-40B4-BE49-F238E27FC236}">
                <a16:creationId xmlns:a16="http://schemas.microsoft.com/office/drawing/2014/main" id="{E4C9B0BF-4B5D-C595-FAD7-2C78E13B0EE3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14 / 25</a:t>
            </a:r>
          </a:p>
        </p:txBody>
      </p:sp>
    </p:spTree>
    <p:extLst>
      <p:ext uri="{BB962C8B-B14F-4D97-AF65-F5344CB8AC3E}">
        <p14:creationId xmlns:p14="http://schemas.microsoft.com/office/powerpoint/2010/main" val="162315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60356" y="-250472"/>
            <a:ext cx="8527644" cy="10537472"/>
          </a:xfrm>
          <a:custGeom>
            <a:avLst/>
            <a:gdLst/>
            <a:ahLst/>
            <a:cxnLst/>
            <a:rect l="l" t="t" r="r" b="b"/>
            <a:pathLst>
              <a:path w="8527644" h="10537472">
                <a:moveTo>
                  <a:pt x="0" y="0"/>
                </a:moveTo>
                <a:lnTo>
                  <a:pt x="8527644" y="0"/>
                </a:lnTo>
                <a:lnTo>
                  <a:pt x="8527644" y="10537472"/>
                </a:lnTo>
                <a:lnTo>
                  <a:pt x="0" y="10537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3" r="-614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737797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795101"/>
            <a:ext cx="8115300" cy="546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Là bộ công cụ (Tools) được xây dựng để AI có thể dễ dàng tương tác với hệ thống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Là lớp </a:t>
            </a: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trung gian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 giữa AI và các API của hệ thống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Giảm sự phụ thuộc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 giữa AI và Backend. Khi API thay đổi, chỉ cần cập nhật MCP Server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Dễ mở rộng</a:t>
            </a:r>
            <a:r>
              <a:rPr lang="en-US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, chỉ cần thêm tool mới vào MCP Server để AI sử dụng</a:t>
            </a:r>
          </a:p>
          <a:p>
            <a:pPr marL="604521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>
                <a:solidFill>
                  <a:srgbClr val="6D88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Dễ bảo trì và tái sử dụng</a:t>
            </a:r>
            <a:r>
              <a:rPr lang="vi-VN" sz="2800">
                <a:solidFill>
                  <a:srgbClr val="6D8856"/>
                </a:solidFill>
                <a:latin typeface="Noto Sans"/>
                <a:ea typeface="Noto Sans"/>
                <a:cs typeface="Noto Sans"/>
                <a:sym typeface="Noto Sans"/>
              </a:rPr>
              <a:t>: một MCP Server dùng cho nhiều AI (ChatGPT, Claude, Gemini…)</a:t>
            </a:r>
            <a:endParaRPr lang="en-US" sz="2800">
              <a:solidFill>
                <a:srgbClr val="6D885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" name="Progress seg 1">
            <a:extLst>
              <a:ext uri="{FF2B5EF4-FFF2-40B4-BE49-F238E27FC236}">
                <a16:creationId xmlns:a16="http://schemas.microsoft.com/office/drawing/2014/main" id="{97751368-49C7-4FCB-0704-490F59CC4760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2">
            <a:extLst>
              <a:ext uri="{FF2B5EF4-FFF2-40B4-BE49-F238E27FC236}">
                <a16:creationId xmlns:a16="http://schemas.microsoft.com/office/drawing/2014/main" id="{53A2DFF8-D85A-0F4D-BBB3-4A7418CE682D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3">
            <a:extLst>
              <a:ext uri="{FF2B5EF4-FFF2-40B4-BE49-F238E27FC236}">
                <a16:creationId xmlns:a16="http://schemas.microsoft.com/office/drawing/2014/main" id="{32904297-EF78-8AD9-EC6B-78261516FA00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4">
            <a:extLst>
              <a:ext uri="{FF2B5EF4-FFF2-40B4-BE49-F238E27FC236}">
                <a16:creationId xmlns:a16="http://schemas.microsoft.com/office/drawing/2014/main" id="{51943965-BFBF-DD51-61E8-261D76FE2035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5">
            <a:extLst>
              <a:ext uri="{FF2B5EF4-FFF2-40B4-BE49-F238E27FC236}">
                <a16:creationId xmlns:a16="http://schemas.microsoft.com/office/drawing/2014/main" id="{DD46CEF4-AE8B-33B3-8929-D3D409495CF1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6">
            <a:extLst>
              <a:ext uri="{FF2B5EF4-FFF2-40B4-BE49-F238E27FC236}">
                <a16:creationId xmlns:a16="http://schemas.microsoft.com/office/drawing/2014/main" id="{5D4C4BD5-5388-7ADB-CFD5-0D585B12E5E7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label">
            <a:extLst>
              <a:ext uri="{FF2B5EF4-FFF2-40B4-BE49-F238E27FC236}">
                <a16:creationId xmlns:a16="http://schemas.microsoft.com/office/drawing/2014/main" id="{88F57E8E-0F95-DD8C-9CDE-18298FCC0BAD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Từ hàm Python đến tool cho AI</a:t>
            </a:r>
          </a:p>
        </p:txBody>
      </p:sp>
      <p:sp>
        <p:nvSpPr>
          <p:cNvPr id="10" name="Code python">
            <a:extLst>
              <a:ext uri="{FF2B5EF4-FFF2-40B4-BE49-F238E27FC236}">
                <a16:creationId xmlns:a16="http://schemas.microsoft.com/office/drawing/2014/main" id="{B8BE33FF-5A1F-74DD-E95F-5317419B201C}"/>
              </a:ext>
            </a:extLst>
          </p:cNvPr>
          <p:cNvSpPr/>
          <p:nvPr/>
        </p:nvSpPr>
        <p:spPr>
          <a:xfrm>
            <a:off x="1028700" y="3759200"/>
            <a:ext cx="7366000" cy="2540000"/>
          </a:xfrm>
          <a:prstGeom prst="roundRect">
            <a:avLst>
              <a:gd name="adj" fmla="val 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def </a:t>
            </a:r>
            <a:r>
              <a:rPr lang="vi-VN" sz="2000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set_pump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(</a:t>
            </a:r>
            <a:r>
              <a:rPr lang="vi-VN" sz="2000">
                <a:solidFill>
                  <a:srgbClr val="F4A261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device_id: str, on: bool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) -&gt; dict: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</a:t>
            </a:r>
            <a:r>
              <a:rPr lang="vi-VN" sz="2000">
                <a:solidFill>
                  <a:srgbClr val="8EC9F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"""Bật/tắt máy bơm (thủ công)."""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return request("POST",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  f"/api/control/{device_id}",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  json={"pump": bool(on)})</a:t>
            </a:r>
          </a:p>
          <a:p>
            <a:endParaRPr lang="vi-VN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mcp.tool()(set_pump)</a:t>
            </a:r>
            <a:endParaRPr lang="en-US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1" name="Code schema">
            <a:extLst>
              <a:ext uri="{FF2B5EF4-FFF2-40B4-BE49-F238E27FC236}">
                <a16:creationId xmlns:a16="http://schemas.microsoft.com/office/drawing/2014/main" id="{573DFF9F-1C14-3F11-4318-80CDADF89774}"/>
              </a:ext>
            </a:extLst>
          </p:cNvPr>
          <p:cNvSpPr/>
          <p:nvPr/>
        </p:nvSpPr>
        <p:spPr>
          <a:xfrm>
            <a:off x="9893300" y="3759200"/>
            <a:ext cx="7366000" cy="3810000"/>
          </a:xfrm>
          <a:prstGeom prst="roundRect">
            <a:avLst>
              <a:gd name="adj" fmla="val 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50800" rIns="279400" bIns="50800" rtlCol="0" anchor="ctr"/>
          <a:lstStyle/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"name": </a:t>
            </a:r>
            <a:r>
              <a:rPr lang="vi-VN" sz="2000">
                <a:solidFill>
                  <a:srgbClr val="F2C94C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"set_pump"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"description": </a:t>
            </a:r>
            <a:r>
              <a:rPr lang="vi-VN" sz="2000">
                <a:solidFill>
                  <a:srgbClr val="8EC9F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"Bật/tắt máy bơm (thủ công)."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"inputSchema": {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"properties": {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</a:t>
            </a:r>
            <a:r>
              <a:rPr lang="vi-VN" sz="2000">
                <a:solidFill>
                  <a:srgbClr val="F4A261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"device_id": {"type": "string"}</a:t>
            </a:r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  </a:t>
            </a:r>
            <a:r>
              <a:rPr lang="vi-VN" sz="2000">
                <a:solidFill>
                  <a:srgbClr val="F4A261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"on": {"type": "boolean"}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},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  "required": ["device_id", "on"]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  }</a:t>
            </a:r>
          </a:p>
          <a:p>
            <a:r>
              <a:rPr lang="vi-VN" sz="20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}</a:t>
            </a:r>
            <a:endParaRPr lang="en-US" sz="20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2" name="Legend name">
            <a:extLst>
              <a:ext uri="{FF2B5EF4-FFF2-40B4-BE49-F238E27FC236}">
                <a16:creationId xmlns:a16="http://schemas.microsoft.com/office/drawing/2014/main" id="{80067735-11DC-AA49-347A-AF2FFCF45236}"/>
              </a:ext>
            </a:extLst>
          </p:cNvPr>
          <p:cNvSpPr/>
          <p:nvPr/>
        </p:nvSpPr>
        <p:spPr>
          <a:xfrm>
            <a:off x="1028700" y="6654800"/>
            <a:ext cx="279400" cy="279400"/>
          </a:xfrm>
          <a:prstGeom prst="roundRect">
            <a:avLst>
              <a:gd name="adj" fmla="val 25000"/>
            </a:avLst>
          </a:prstGeom>
          <a:solidFill>
            <a:srgbClr val="F2C94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3" name="Legend desc">
            <a:extLst>
              <a:ext uri="{FF2B5EF4-FFF2-40B4-BE49-F238E27FC236}">
                <a16:creationId xmlns:a16="http://schemas.microsoft.com/office/drawing/2014/main" id="{FEADEA19-B82F-7031-AD54-B4E1E13D6863}"/>
              </a:ext>
            </a:extLst>
          </p:cNvPr>
          <p:cNvSpPr/>
          <p:nvPr/>
        </p:nvSpPr>
        <p:spPr>
          <a:xfrm>
            <a:off x="1028700" y="7112000"/>
            <a:ext cx="279400" cy="279400"/>
          </a:xfrm>
          <a:prstGeom prst="roundRect">
            <a:avLst>
              <a:gd name="adj" fmla="val 25000"/>
            </a:avLst>
          </a:prstGeom>
          <a:solidFill>
            <a:srgbClr val="8EC9F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4" name="Legend params">
            <a:extLst>
              <a:ext uri="{FF2B5EF4-FFF2-40B4-BE49-F238E27FC236}">
                <a16:creationId xmlns:a16="http://schemas.microsoft.com/office/drawing/2014/main" id="{B4A848E4-F79E-2E67-6DF0-FE86ECAC830F}"/>
              </a:ext>
            </a:extLst>
          </p:cNvPr>
          <p:cNvSpPr/>
          <p:nvPr/>
        </p:nvSpPr>
        <p:spPr>
          <a:xfrm>
            <a:off x="1028700" y="7569200"/>
            <a:ext cx="279400" cy="279400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cxnSp>
        <p:nvCxnSpPr>
          <p:cNvPr id="15" name="Arrow fastmcp">
            <a:extLst>
              <a:ext uri="{FF2B5EF4-FFF2-40B4-BE49-F238E27FC236}">
                <a16:creationId xmlns:a16="http://schemas.microsoft.com/office/drawing/2014/main" id="{C77FAC30-4783-47D0-44EB-C62D36399010}"/>
              </a:ext>
            </a:extLst>
          </p:cNvPr>
          <p:cNvCxnSpPr/>
          <p:nvPr/>
        </p:nvCxnSpPr>
        <p:spPr>
          <a:xfrm>
            <a:off x="8521700" y="5029200"/>
            <a:ext cx="1244600" cy="0"/>
          </a:xfrm>
          <a:prstGeom prst="line">
            <a:avLst/>
          </a:prstGeom>
          <a:ln w="38100">
            <a:solidFill>
              <a:srgbClr val="5A7745"/>
            </a:solidFill>
            <a:prstDash val="solid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ption">
            <a:extLst>
              <a:ext uri="{FF2B5EF4-FFF2-40B4-BE49-F238E27FC236}">
                <a16:creationId xmlns:a16="http://schemas.microsoft.com/office/drawing/2014/main" id="{8F3D6FEB-74CB-3E79-332D-69AE2B4DB29E}"/>
              </a:ext>
            </a:extLst>
          </p:cNvPr>
          <p:cNvSpPr txBox="1"/>
          <p:nvPr/>
        </p:nvSpPr>
        <p:spPr>
          <a:xfrm>
            <a:off x="1028700" y="2438400"/>
            <a:ext cx="1623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FastMCP tự sinh schema từ tên hàm, kiểu tham số và docstring. AI chỉ đọc schema này để chọn tool.</a:t>
            </a:r>
          </a:p>
        </p:txBody>
      </p:sp>
      <p:sp>
        <p:nvSpPr>
          <p:cNvPr id="17" name="Header dev">
            <a:extLst>
              <a:ext uri="{FF2B5EF4-FFF2-40B4-BE49-F238E27FC236}">
                <a16:creationId xmlns:a16="http://schemas.microsoft.com/office/drawing/2014/main" id="{B48E385B-FD70-DFA1-AE56-362C4BDF6F3A}"/>
              </a:ext>
            </a:extLst>
          </p:cNvPr>
          <p:cNvSpPr txBox="1"/>
          <p:nvPr/>
        </p:nvSpPr>
        <p:spPr>
          <a:xfrm>
            <a:off x="1028700" y="3149600"/>
            <a:ext cx="7366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Bước 1: Dev viết hàm + đăng kí</a:t>
            </a:r>
            <a:endParaRPr lang="en-US" sz="26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8" name="Header ai">
            <a:extLst>
              <a:ext uri="{FF2B5EF4-FFF2-40B4-BE49-F238E27FC236}">
                <a16:creationId xmlns:a16="http://schemas.microsoft.com/office/drawing/2014/main" id="{7C0F31A4-3D00-E205-82A9-9C4856E263DD}"/>
              </a:ext>
            </a:extLst>
          </p:cNvPr>
          <p:cNvSpPr txBox="1"/>
          <p:nvPr/>
        </p:nvSpPr>
        <p:spPr>
          <a:xfrm>
            <a:off x="9893300" y="3149600"/>
            <a:ext cx="7366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Bước 2: AI nhìn thấy (tools/list)</a:t>
            </a:r>
            <a:endParaRPr lang="en-US" sz="26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9" name="Label fastmcp">
            <a:extLst>
              <a:ext uri="{FF2B5EF4-FFF2-40B4-BE49-F238E27FC236}">
                <a16:creationId xmlns:a16="http://schemas.microsoft.com/office/drawing/2014/main" id="{DE5AD162-9756-D6D0-F0C8-9958BDC38412}"/>
              </a:ext>
            </a:extLst>
          </p:cNvPr>
          <p:cNvSpPr txBox="1"/>
          <p:nvPr/>
        </p:nvSpPr>
        <p:spPr>
          <a:xfrm>
            <a:off x="8445500" y="4521200"/>
            <a:ext cx="1397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FastMCP</a:t>
            </a:r>
          </a:p>
        </p:txBody>
      </p:sp>
      <p:sp>
        <p:nvSpPr>
          <p:cNvPr id="20" name="Legend name text">
            <a:extLst>
              <a:ext uri="{FF2B5EF4-FFF2-40B4-BE49-F238E27FC236}">
                <a16:creationId xmlns:a16="http://schemas.microsoft.com/office/drawing/2014/main" id="{C24AAF56-AF01-5500-8748-4BC3197D0D8B}"/>
              </a:ext>
            </a:extLst>
          </p:cNvPr>
          <p:cNvSpPr txBox="1"/>
          <p:nvPr/>
        </p:nvSpPr>
        <p:spPr>
          <a:xfrm>
            <a:off x="1460500" y="6591300"/>
            <a:ext cx="693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Tên tool</a:t>
            </a:r>
          </a:p>
        </p:txBody>
      </p:sp>
      <p:sp>
        <p:nvSpPr>
          <p:cNvPr id="21" name="Legend desc text">
            <a:extLst>
              <a:ext uri="{FF2B5EF4-FFF2-40B4-BE49-F238E27FC236}">
                <a16:creationId xmlns:a16="http://schemas.microsoft.com/office/drawing/2014/main" id="{D20AB73E-29CE-9179-BB17-4D242480E6F0}"/>
              </a:ext>
            </a:extLst>
          </p:cNvPr>
          <p:cNvSpPr txBox="1"/>
          <p:nvPr/>
        </p:nvSpPr>
        <p:spPr>
          <a:xfrm>
            <a:off x="1460500" y="7048500"/>
            <a:ext cx="693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Mô tả (docstring): AI đọc để biết khi nào gọi</a:t>
            </a:r>
          </a:p>
        </p:txBody>
      </p:sp>
      <p:sp>
        <p:nvSpPr>
          <p:cNvPr id="22" name="Legend params text">
            <a:extLst>
              <a:ext uri="{FF2B5EF4-FFF2-40B4-BE49-F238E27FC236}">
                <a16:creationId xmlns:a16="http://schemas.microsoft.com/office/drawing/2014/main" id="{1851DBDF-C677-F97B-77D6-EACD6DAA0117}"/>
              </a:ext>
            </a:extLst>
          </p:cNvPr>
          <p:cNvSpPr txBox="1"/>
          <p:nvPr/>
        </p:nvSpPr>
        <p:spPr>
          <a:xfrm>
            <a:off x="1460500" y="7505700"/>
            <a:ext cx="693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Tham số + kiểu dữ liệu</a:t>
            </a:r>
          </a:p>
        </p:txBody>
      </p:sp>
      <p:sp>
        <p:nvSpPr>
          <p:cNvPr id="23" name="Note tools">
            <a:extLst>
              <a:ext uri="{FF2B5EF4-FFF2-40B4-BE49-F238E27FC236}">
                <a16:creationId xmlns:a16="http://schemas.microsoft.com/office/drawing/2014/main" id="{C9992E25-6FE0-D14D-441F-7DBEAFE3E8AB}"/>
              </a:ext>
            </a:extLst>
          </p:cNvPr>
          <p:cNvSpPr txBox="1"/>
          <p:nvPr/>
        </p:nvSpPr>
        <p:spPr>
          <a:xfrm>
            <a:off x="1028700" y="8318500"/>
            <a:ext cx="1623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 có 12 tool như vậy: đọc cảm biến, bật/tắt bơm &amp; đèn, đổi chế độ, chỉnh ngưỡng tưới</a:t>
            </a:r>
            <a:endParaRPr lang="en-US" sz="2200" b="1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1" name="Progress seg 1">
            <a:extLst>
              <a:ext uri="{FF2B5EF4-FFF2-40B4-BE49-F238E27FC236}">
                <a16:creationId xmlns:a16="http://schemas.microsoft.com/office/drawing/2014/main" id="{DF6EBC85-0CD4-E354-921C-CB3F27509597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gress seg 2">
            <a:extLst>
              <a:ext uri="{FF2B5EF4-FFF2-40B4-BE49-F238E27FC236}">
                <a16:creationId xmlns:a16="http://schemas.microsoft.com/office/drawing/2014/main" id="{678B066E-E706-2435-535B-DEAE928FF66A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gress seg 3">
            <a:extLst>
              <a:ext uri="{FF2B5EF4-FFF2-40B4-BE49-F238E27FC236}">
                <a16:creationId xmlns:a16="http://schemas.microsoft.com/office/drawing/2014/main" id="{D67428FC-AC2F-6500-67BB-8AB02C8C3B57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gress seg 4">
            <a:extLst>
              <a:ext uri="{FF2B5EF4-FFF2-40B4-BE49-F238E27FC236}">
                <a16:creationId xmlns:a16="http://schemas.microsoft.com/office/drawing/2014/main" id="{E2FB6A30-E8AD-9044-E71C-88AA792BBFFF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gress seg 5">
            <a:extLst>
              <a:ext uri="{FF2B5EF4-FFF2-40B4-BE49-F238E27FC236}">
                <a16:creationId xmlns:a16="http://schemas.microsoft.com/office/drawing/2014/main" id="{7314DEB4-125D-982C-7409-1BA8875AD690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gress seg 6">
            <a:extLst>
              <a:ext uri="{FF2B5EF4-FFF2-40B4-BE49-F238E27FC236}">
                <a16:creationId xmlns:a16="http://schemas.microsoft.com/office/drawing/2014/main" id="{66206B83-A447-0482-2EFA-8635D5FCAB14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gress label">
            <a:extLst>
              <a:ext uri="{FF2B5EF4-FFF2-40B4-BE49-F238E27FC236}">
                <a16:creationId xmlns:a16="http://schemas.microsoft.com/office/drawing/2014/main" id="{41317AE7-E79A-4835-307D-9E307766D6D3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16 / 25</a:t>
            </a:r>
          </a:p>
        </p:txBody>
      </p:sp>
    </p:spTree>
    <p:extLst>
      <p:ext uri="{BB962C8B-B14F-4D97-AF65-F5344CB8AC3E}">
        <p14:creationId xmlns:p14="http://schemas.microsoft.com/office/powerpoint/2010/main" val="30410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5873" y="0"/>
            <a:ext cx="7292127" cy="11880625"/>
          </a:xfrm>
          <a:custGeom>
            <a:avLst/>
            <a:gdLst/>
            <a:ahLst/>
            <a:cxnLst/>
            <a:rect l="l" t="t" r="r" b="b"/>
            <a:pathLst>
              <a:path w="7292127" h="11880625">
                <a:moveTo>
                  <a:pt x="0" y="0"/>
                </a:moveTo>
                <a:lnTo>
                  <a:pt x="7292127" y="0"/>
                </a:lnTo>
                <a:lnTo>
                  <a:pt x="7292127" y="11880625"/>
                </a:lnTo>
                <a:lnTo>
                  <a:pt x="0" y="11880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630732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2993"/>
            <a:ext cx="8665075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Vậy từ một câu prompt,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AI điều khiển thiết bị IoT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như thế nào?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sp>
        <p:nvSpPr>
          <p:cNvPr id="12" name="Progress seg 1">
            <a:extLst>
              <a:ext uri="{FF2B5EF4-FFF2-40B4-BE49-F238E27FC236}">
                <a16:creationId xmlns:a16="http://schemas.microsoft.com/office/drawing/2014/main" id="{663CB6C8-35F7-5D43-395F-B9A60AC97994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2">
            <a:extLst>
              <a:ext uri="{FF2B5EF4-FFF2-40B4-BE49-F238E27FC236}">
                <a16:creationId xmlns:a16="http://schemas.microsoft.com/office/drawing/2014/main" id="{CF613E2F-069E-E419-4FB6-D4D131916D23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3">
            <a:extLst>
              <a:ext uri="{FF2B5EF4-FFF2-40B4-BE49-F238E27FC236}">
                <a16:creationId xmlns:a16="http://schemas.microsoft.com/office/drawing/2014/main" id="{DBEE27BD-10FE-516D-EC8E-F312527D275E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4">
            <a:extLst>
              <a:ext uri="{FF2B5EF4-FFF2-40B4-BE49-F238E27FC236}">
                <a16:creationId xmlns:a16="http://schemas.microsoft.com/office/drawing/2014/main" id="{0FE52062-8143-8DE1-27AA-2F410C25A415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5">
            <a:extLst>
              <a:ext uri="{FF2B5EF4-FFF2-40B4-BE49-F238E27FC236}">
                <a16:creationId xmlns:a16="http://schemas.microsoft.com/office/drawing/2014/main" id="{506DF5C3-803C-BD88-A7A6-15FC509E1605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6">
            <a:extLst>
              <a:ext uri="{FF2B5EF4-FFF2-40B4-BE49-F238E27FC236}">
                <a16:creationId xmlns:a16="http://schemas.microsoft.com/office/drawing/2014/main" id="{D2CCA2DB-10C9-94DF-AD11-E545B0F95A2F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label">
            <a:extLst>
              <a:ext uri="{FF2B5EF4-FFF2-40B4-BE49-F238E27FC236}">
                <a16:creationId xmlns:a16="http://schemas.microsoft.com/office/drawing/2014/main" id="{4C78A675-2ED3-F6BD-5BBC-0505ACC22D64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85489"/>
            <a:ext cx="16230600" cy="6948749"/>
          </a:xfrm>
          <a:custGeom>
            <a:avLst/>
            <a:gdLst/>
            <a:ahLst/>
            <a:cxnLst/>
            <a:rect l="l" t="t" r="r" b="b"/>
            <a:pathLst>
              <a:path w="16230600" h="6948749">
                <a:moveTo>
                  <a:pt x="0" y="0"/>
                </a:moveTo>
                <a:lnTo>
                  <a:pt x="16230600" y="0"/>
                </a:lnTo>
                <a:lnTo>
                  <a:pt x="16230600" y="6948748"/>
                </a:lnTo>
                <a:lnTo>
                  <a:pt x="0" y="694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5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vi-VN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Từ prompt đến thiết bị: 7 bước</a:t>
            </a:r>
            <a:endParaRPr lang="en-US" sz="8000" b="1">
              <a:solidFill>
                <a:srgbClr val="6D8856"/>
              </a:solidFill>
              <a:latin typeface="Arial" panose="020B0604020202020204" pitchFamily="34" charset="0"/>
              <a:ea typeface="Montserrat Ultra-Bold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Progress seg 1">
            <a:extLst>
              <a:ext uri="{FF2B5EF4-FFF2-40B4-BE49-F238E27FC236}">
                <a16:creationId xmlns:a16="http://schemas.microsoft.com/office/drawing/2014/main" id="{D08B101D-0864-4DC2-2945-3CF986D6145F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rogress seg 2">
            <a:extLst>
              <a:ext uri="{FF2B5EF4-FFF2-40B4-BE49-F238E27FC236}">
                <a16:creationId xmlns:a16="http://schemas.microsoft.com/office/drawing/2014/main" id="{0ACE9D9D-2328-966C-05C9-697DD2095258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3">
            <a:extLst>
              <a:ext uri="{FF2B5EF4-FFF2-40B4-BE49-F238E27FC236}">
                <a16:creationId xmlns:a16="http://schemas.microsoft.com/office/drawing/2014/main" id="{1620583C-D8A2-1C2C-7BDE-42A86BC101BE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4">
            <a:extLst>
              <a:ext uri="{FF2B5EF4-FFF2-40B4-BE49-F238E27FC236}">
                <a16:creationId xmlns:a16="http://schemas.microsoft.com/office/drawing/2014/main" id="{41B999A2-4DEF-BCDF-E351-7D39CDB4D25F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5">
            <a:extLst>
              <a:ext uri="{FF2B5EF4-FFF2-40B4-BE49-F238E27FC236}">
                <a16:creationId xmlns:a16="http://schemas.microsoft.com/office/drawing/2014/main" id="{0D7B4179-9926-7624-E596-710E8B693A5F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6">
            <a:extLst>
              <a:ext uri="{FF2B5EF4-FFF2-40B4-BE49-F238E27FC236}">
                <a16:creationId xmlns:a16="http://schemas.microsoft.com/office/drawing/2014/main" id="{49AEFEB6-81C5-74C2-77E0-7DCEAA27FA5E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label">
            <a:extLst>
              <a:ext uri="{FF2B5EF4-FFF2-40B4-BE49-F238E27FC236}">
                <a16:creationId xmlns:a16="http://schemas.microsoft.com/office/drawing/2014/main" id="{8D7BBBB9-3AC3-6B71-AA1F-D095FB72C598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5632" y="0"/>
            <a:ext cx="10732368" cy="10732368"/>
          </a:xfrm>
          <a:custGeom>
            <a:avLst/>
            <a:gdLst/>
            <a:ahLst/>
            <a:cxnLst/>
            <a:rect l="l" t="t" r="r" b="b"/>
            <a:pathLst>
              <a:path w="10732368" h="10732368">
                <a:moveTo>
                  <a:pt x="0" y="0"/>
                </a:moveTo>
                <a:lnTo>
                  <a:pt x="10732368" y="0"/>
                </a:lnTo>
                <a:lnTo>
                  <a:pt x="10732368" y="10732368"/>
                </a:lnTo>
                <a:lnTo>
                  <a:pt x="0" y="10732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630732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2490"/>
            <a:ext cx="6223000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Thực tế hệ thống </a:t>
            </a:r>
          </a:p>
          <a:p>
            <a:pPr algn="l">
              <a:lnSpc>
                <a:spcPts val="7000"/>
              </a:lnSpc>
            </a:pPr>
            <a:r>
              <a:rPr lang="en-US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hoạt động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như thế nào?</a:t>
            </a:r>
          </a:p>
        </p:txBody>
      </p:sp>
      <p:sp>
        <p:nvSpPr>
          <p:cNvPr id="12" name="Progress seg 1">
            <a:extLst>
              <a:ext uri="{FF2B5EF4-FFF2-40B4-BE49-F238E27FC236}">
                <a16:creationId xmlns:a16="http://schemas.microsoft.com/office/drawing/2014/main" id="{623DDF0B-6B51-EC46-601F-3703A61636A5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2">
            <a:extLst>
              <a:ext uri="{FF2B5EF4-FFF2-40B4-BE49-F238E27FC236}">
                <a16:creationId xmlns:a16="http://schemas.microsoft.com/office/drawing/2014/main" id="{EC449D17-BD69-DD34-0824-01F7387E5CBC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3">
            <a:extLst>
              <a:ext uri="{FF2B5EF4-FFF2-40B4-BE49-F238E27FC236}">
                <a16:creationId xmlns:a16="http://schemas.microsoft.com/office/drawing/2014/main" id="{5B863E4B-C489-1701-7636-970A1BA8ACD0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4">
            <a:extLst>
              <a:ext uri="{FF2B5EF4-FFF2-40B4-BE49-F238E27FC236}">
                <a16:creationId xmlns:a16="http://schemas.microsoft.com/office/drawing/2014/main" id="{F979B082-751F-0584-5B62-CACCE6DC21D3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5">
            <a:extLst>
              <a:ext uri="{FF2B5EF4-FFF2-40B4-BE49-F238E27FC236}">
                <a16:creationId xmlns:a16="http://schemas.microsoft.com/office/drawing/2014/main" id="{BEA62D55-0DA9-9A9A-EA87-F6ACC3D69072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6">
            <a:extLst>
              <a:ext uri="{FF2B5EF4-FFF2-40B4-BE49-F238E27FC236}">
                <a16:creationId xmlns:a16="http://schemas.microsoft.com/office/drawing/2014/main" id="{D4A774BD-96C1-E0C3-E2B3-92449DC33692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label">
            <a:extLst>
              <a:ext uri="{FF2B5EF4-FFF2-40B4-BE49-F238E27FC236}">
                <a16:creationId xmlns:a16="http://schemas.microsoft.com/office/drawing/2014/main" id="{CCE70915-3DEE-2828-ED03-25956D50999A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Timeline">
            <a:extLst>
              <a:ext uri="{FF2B5EF4-FFF2-40B4-BE49-F238E27FC236}">
                <a16:creationId xmlns:a16="http://schemas.microsoft.com/office/drawing/2014/main" id="{F4C578D0-C100-5866-8266-769C1C3AC7B5}"/>
              </a:ext>
            </a:extLst>
          </p:cNvPr>
          <p:cNvCxnSpPr/>
          <p:nvPr/>
        </p:nvCxnSpPr>
        <p:spPr>
          <a:xfrm>
            <a:off x="1282700" y="3111500"/>
            <a:ext cx="0" cy="5638800"/>
          </a:xfrm>
          <a:prstGeom prst="line">
            <a:avLst/>
          </a:prstGeom>
          <a:ln w="38100">
            <a:solidFill>
              <a:srgbClr val="C9D8BF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vi-VN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Ví dụ thực tế: tưới cây</a:t>
            </a:r>
            <a:endParaRPr lang="en-US" sz="8000" b="1">
              <a:solidFill>
                <a:srgbClr val="6D8856"/>
              </a:solidFill>
              <a:latin typeface="Arial" panose="020B0604020202020204" pitchFamily="34" charset="0"/>
              <a:ea typeface="Montserrat Ultra-Bold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Badge 1">
            <a:extLst>
              <a:ext uri="{FF2B5EF4-FFF2-40B4-BE49-F238E27FC236}">
                <a16:creationId xmlns:a16="http://schemas.microsoft.com/office/drawing/2014/main" id="{AFABD71B-1697-442C-4D7F-B8943FAE8D5C}"/>
              </a:ext>
            </a:extLst>
          </p:cNvPr>
          <p:cNvSpPr/>
          <p:nvPr/>
        </p:nvSpPr>
        <p:spPr>
          <a:xfrm>
            <a:off x="1028700" y="2857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1</a:t>
            </a:r>
          </a:p>
        </p:txBody>
      </p:sp>
      <p:sp>
        <p:nvSpPr>
          <p:cNvPr id="5" name="Actor 1">
            <a:extLst>
              <a:ext uri="{FF2B5EF4-FFF2-40B4-BE49-F238E27FC236}">
                <a16:creationId xmlns:a16="http://schemas.microsoft.com/office/drawing/2014/main" id="{E95C90F5-2A76-2803-2190-9871019AE7D1}"/>
              </a:ext>
            </a:extLst>
          </p:cNvPr>
          <p:cNvSpPr/>
          <p:nvPr/>
        </p:nvSpPr>
        <p:spPr>
          <a:xfrm>
            <a:off x="1739900" y="28321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vi-VN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Người dùng → AI</a:t>
            </a:r>
            <a:endParaRPr lang="en-US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Badge 2">
            <a:extLst>
              <a:ext uri="{FF2B5EF4-FFF2-40B4-BE49-F238E27FC236}">
                <a16:creationId xmlns:a16="http://schemas.microsoft.com/office/drawing/2014/main" id="{1F4CB12E-6421-3389-7D82-ACBE8ADC3C79}"/>
              </a:ext>
            </a:extLst>
          </p:cNvPr>
          <p:cNvSpPr/>
          <p:nvPr/>
        </p:nvSpPr>
        <p:spPr>
          <a:xfrm>
            <a:off x="1028700" y="37973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</a:t>
            </a:r>
          </a:p>
        </p:txBody>
      </p:sp>
      <p:sp>
        <p:nvSpPr>
          <p:cNvPr id="7" name="Actor 2">
            <a:extLst>
              <a:ext uri="{FF2B5EF4-FFF2-40B4-BE49-F238E27FC236}">
                <a16:creationId xmlns:a16="http://schemas.microsoft.com/office/drawing/2014/main" id="{B8274C35-9A2F-FFE2-5E2F-D6538F959165}"/>
              </a:ext>
            </a:extLst>
          </p:cNvPr>
          <p:cNvSpPr/>
          <p:nvPr/>
        </p:nvSpPr>
        <p:spPr>
          <a:xfrm>
            <a:off x="1739900" y="37719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→ MCP Server</a:t>
            </a:r>
          </a:p>
        </p:txBody>
      </p:sp>
      <p:sp>
        <p:nvSpPr>
          <p:cNvPr id="8" name="Code 2">
            <a:extLst>
              <a:ext uri="{FF2B5EF4-FFF2-40B4-BE49-F238E27FC236}">
                <a16:creationId xmlns:a16="http://schemas.microsoft.com/office/drawing/2014/main" id="{EFA98A94-1311-D2AF-F190-F1E26D8ED27F}"/>
              </a:ext>
            </a:extLst>
          </p:cNvPr>
          <p:cNvSpPr/>
          <p:nvPr/>
        </p:nvSpPr>
        <p:spPr>
          <a:xfrm>
            <a:off x="11645900" y="37719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tools/list → 12 tool</a:t>
            </a:r>
          </a:p>
        </p:txBody>
      </p:sp>
      <p:sp>
        <p:nvSpPr>
          <p:cNvPr id="9" name="Badge 3">
            <a:extLst>
              <a:ext uri="{FF2B5EF4-FFF2-40B4-BE49-F238E27FC236}">
                <a16:creationId xmlns:a16="http://schemas.microsoft.com/office/drawing/2014/main" id="{D9F307AF-D99B-C918-F1D1-BC74BDBB97FA}"/>
              </a:ext>
            </a:extLst>
          </p:cNvPr>
          <p:cNvSpPr/>
          <p:nvPr/>
        </p:nvSpPr>
        <p:spPr>
          <a:xfrm>
            <a:off x="1028700" y="47371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</a:t>
            </a:r>
          </a:p>
        </p:txBody>
      </p:sp>
      <p:sp>
        <p:nvSpPr>
          <p:cNvPr id="10" name="Actor 3">
            <a:extLst>
              <a:ext uri="{FF2B5EF4-FFF2-40B4-BE49-F238E27FC236}">
                <a16:creationId xmlns:a16="http://schemas.microsoft.com/office/drawing/2014/main" id="{8FC63DE0-D2AC-05BA-223A-1E07E6477D21}"/>
              </a:ext>
            </a:extLst>
          </p:cNvPr>
          <p:cNvSpPr/>
          <p:nvPr/>
        </p:nvSpPr>
        <p:spPr>
          <a:xfrm>
            <a:off x="1739900" y="47117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→ MCP → API</a:t>
            </a:r>
          </a:p>
        </p:txBody>
      </p:sp>
      <p:sp>
        <p:nvSpPr>
          <p:cNvPr id="11" name="Code 3">
            <a:extLst>
              <a:ext uri="{FF2B5EF4-FFF2-40B4-BE49-F238E27FC236}">
                <a16:creationId xmlns:a16="http://schemas.microsoft.com/office/drawing/2014/main" id="{EF142FDB-18E1-07A9-C6F4-CF7655EF4AA2}"/>
              </a:ext>
            </a:extLst>
          </p:cNvPr>
          <p:cNvSpPr/>
          <p:nvPr/>
        </p:nvSpPr>
        <p:spPr>
          <a:xfrm>
            <a:off x="11645900" y="47117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it-IT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GET /api/sensordata/latest/{id}</a:t>
            </a:r>
            <a:endParaRPr lang="en-US" sz="1700">
              <a:solidFill>
                <a:srgbClr val="E6EFE0"/>
              </a:solidFill>
              <a:latin typeface="Consolas" panose="020B0609020204030204" pitchFamily="49" charset="0"/>
              <a:sym typeface="Consolas" panose="020B0609020204030204" pitchFamily="49" charset="0"/>
            </a:endParaRPr>
          </a:p>
        </p:txBody>
      </p:sp>
      <p:sp>
        <p:nvSpPr>
          <p:cNvPr id="12" name="Badge 4">
            <a:extLst>
              <a:ext uri="{FF2B5EF4-FFF2-40B4-BE49-F238E27FC236}">
                <a16:creationId xmlns:a16="http://schemas.microsoft.com/office/drawing/2014/main" id="{70FEBF54-6EFD-F257-6769-B2C5F8CD713D}"/>
              </a:ext>
            </a:extLst>
          </p:cNvPr>
          <p:cNvSpPr/>
          <p:nvPr/>
        </p:nvSpPr>
        <p:spPr>
          <a:xfrm>
            <a:off x="1028700" y="56769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4</a:t>
            </a:r>
          </a:p>
        </p:txBody>
      </p:sp>
      <p:sp>
        <p:nvSpPr>
          <p:cNvPr id="13" name="Actor 4">
            <a:extLst>
              <a:ext uri="{FF2B5EF4-FFF2-40B4-BE49-F238E27FC236}">
                <a16:creationId xmlns:a16="http://schemas.microsoft.com/office/drawing/2014/main" id="{207DB575-A21F-6473-5FB5-6AFE69703260}"/>
              </a:ext>
            </a:extLst>
          </p:cNvPr>
          <p:cNvSpPr/>
          <p:nvPr/>
        </p:nvSpPr>
        <p:spPr>
          <a:xfrm>
            <a:off x="1739900" y="56515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API → AI</a:t>
            </a:r>
          </a:p>
        </p:txBody>
      </p:sp>
      <p:sp>
        <p:nvSpPr>
          <p:cNvPr id="14" name="Code 4">
            <a:extLst>
              <a:ext uri="{FF2B5EF4-FFF2-40B4-BE49-F238E27FC236}">
                <a16:creationId xmlns:a16="http://schemas.microsoft.com/office/drawing/2014/main" id="{C29C6635-1AEC-369A-B664-2DC072EB7923}"/>
              </a:ext>
            </a:extLst>
          </p:cNvPr>
          <p:cNvSpPr/>
          <p:nvPr/>
        </p:nvSpPr>
        <p:spPr>
          <a:xfrm>
            <a:off x="11645900" y="56515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{"soilPercent": 23}</a:t>
            </a:r>
          </a:p>
        </p:txBody>
      </p:sp>
      <p:sp>
        <p:nvSpPr>
          <p:cNvPr id="15" name="Badge 5">
            <a:extLst>
              <a:ext uri="{FF2B5EF4-FFF2-40B4-BE49-F238E27FC236}">
                <a16:creationId xmlns:a16="http://schemas.microsoft.com/office/drawing/2014/main" id="{042FA519-5E88-92D5-288B-3C6D8A4CF494}"/>
              </a:ext>
            </a:extLst>
          </p:cNvPr>
          <p:cNvSpPr/>
          <p:nvPr/>
        </p:nvSpPr>
        <p:spPr>
          <a:xfrm>
            <a:off x="1028700" y="66167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5</a:t>
            </a:r>
          </a:p>
        </p:txBody>
      </p:sp>
      <p:sp>
        <p:nvSpPr>
          <p:cNvPr id="16" name="Actor 5">
            <a:extLst>
              <a:ext uri="{FF2B5EF4-FFF2-40B4-BE49-F238E27FC236}">
                <a16:creationId xmlns:a16="http://schemas.microsoft.com/office/drawing/2014/main" id="{B8367C2F-26A4-7CF9-9481-DF3B192BCAB9}"/>
              </a:ext>
            </a:extLst>
          </p:cNvPr>
          <p:cNvSpPr/>
          <p:nvPr/>
        </p:nvSpPr>
        <p:spPr>
          <a:xfrm>
            <a:off x="1739900" y="65913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</a:t>
            </a:r>
          </a:p>
        </p:txBody>
      </p:sp>
      <p:sp>
        <p:nvSpPr>
          <p:cNvPr id="17" name="Badge 6">
            <a:extLst>
              <a:ext uri="{FF2B5EF4-FFF2-40B4-BE49-F238E27FC236}">
                <a16:creationId xmlns:a16="http://schemas.microsoft.com/office/drawing/2014/main" id="{2684A917-01FC-4994-D3C0-DFAB6D1BE78F}"/>
              </a:ext>
            </a:extLst>
          </p:cNvPr>
          <p:cNvSpPr/>
          <p:nvPr/>
        </p:nvSpPr>
        <p:spPr>
          <a:xfrm>
            <a:off x="1028700" y="7556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6</a:t>
            </a:r>
          </a:p>
        </p:txBody>
      </p:sp>
      <p:sp>
        <p:nvSpPr>
          <p:cNvPr id="18" name="Actor 6">
            <a:extLst>
              <a:ext uri="{FF2B5EF4-FFF2-40B4-BE49-F238E27FC236}">
                <a16:creationId xmlns:a16="http://schemas.microsoft.com/office/drawing/2014/main" id="{7057D16A-AE2E-B3A7-E629-A9CADD7C0703}"/>
              </a:ext>
            </a:extLst>
          </p:cNvPr>
          <p:cNvSpPr/>
          <p:nvPr/>
        </p:nvSpPr>
        <p:spPr>
          <a:xfrm>
            <a:off x="1739900" y="75311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AI → MCP → API</a:t>
            </a:r>
          </a:p>
        </p:txBody>
      </p:sp>
      <p:sp>
        <p:nvSpPr>
          <p:cNvPr id="19" name="Code 6">
            <a:extLst>
              <a:ext uri="{FF2B5EF4-FFF2-40B4-BE49-F238E27FC236}">
                <a16:creationId xmlns:a16="http://schemas.microsoft.com/office/drawing/2014/main" id="{15795F61-D37D-BAFC-DCE9-03D7520A6624}"/>
              </a:ext>
            </a:extLst>
          </p:cNvPr>
          <p:cNvSpPr/>
          <p:nvPr/>
        </p:nvSpPr>
        <p:spPr>
          <a:xfrm>
            <a:off x="11645900" y="75311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POST /api/control/{id} {"pump": true}</a:t>
            </a:r>
          </a:p>
        </p:txBody>
      </p:sp>
      <p:sp>
        <p:nvSpPr>
          <p:cNvPr id="20" name="Badge 7">
            <a:extLst>
              <a:ext uri="{FF2B5EF4-FFF2-40B4-BE49-F238E27FC236}">
                <a16:creationId xmlns:a16="http://schemas.microsoft.com/office/drawing/2014/main" id="{F6B2E454-6DE6-54DE-180C-EC26A55DC86E}"/>
              </a:ext>
            </a:extLst>
          </p:cNvPr>
          <p:cNvSpPr/>
          <p:nvPr/>
        </p:nvSpPr>
        <p:spPr>
          <a:xfrm>
            <a:off x="1028700" y="84963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7</a:t>
            </a:r>
          </a:p>
        </p:txBody>
      </p:sp>
      <p:sp>
        <p:nvSpPr>
          <p:cNvPr id="21" name="Actor 7">
            <a:extLst>
              <a:ext uri="{FF2B5EF4-FFF2-40B4-BE49-F238E27FC236}">
                <a16:creationId xmlns:a16="http://schemas.microsoft.com/office/drawing/2014/main" id="{886D05CB-D2FE-636B-B79D-BBE73C5089C3}"/>
              </a:ext>
            </a:extLst>
          </p:cNvPr>
          <p:cNvSpPr/>
          <p:nvPr/>
        </p:nvSpPr>
        <p:spPr>
          <a:xfrm>
            <a:off x="1739900" y="8470900"/>
            <a:ext cx="3175000" cy="558800"/>
          </a:xfrm>
          <a:prstGeom prst="roundRect">
            <a:avLst>
              <a:gd name="adj" fmla="val 50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→ Thiết bị</a:t>
            </a:r>
          </a:p>
        </p:txBody>
      </p:sp>
      <p:sp>
        <p:nvSpPr>
          <p:cNvPr id="22" name="Code 7">
            <a:extLst>
              <a:ext uri="{FF2B5EF4-FFF2-40B4-BE49-F238E27FC236}">
                <a16:creationId xmlns:a16="http://schemas.microsoft.com/office/drawing/2014/main" id="{E5598A0A-B813-801E-1D4A-60B2F772D175}"/>
              </a:ext>
            </a:extLst>
          </p:cNvPr>
          <p:cNvSpPr/>
          <p:nvPr/>
        </p:nvSpPr>
        <p:spPr>
          <a:xfrm>
            <a:off x="11645900" y="8470900"/>
            <a:ext cx="5613400" cy="558800"/>
          </a:xfrm>
          <a:prstGeom prst="roundRect">
            <a:avLst>
              <a:gd name="adj" fmla="val 15000"/>
            </a:avLst>
          </a:prstGeom>
          <a:solidFill>
            <a:srgbClr val="24302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r>
              <a:rPr lang="en-US" sz="1700">
                <a:solidFill>
                  <a:srgbClr val="E6EFE0"/>
                </a:solidFill>
                <a:latin typeface="Consolas" panose="020B0609020204030204" pitchFamily="49" charset="0"/>
                <a:sym typeface="Consolas" panose="020B0609020204030204" pitchFamily="49" charset="0"/>
              </a:rPr>
              <a:t>xmini/control {"pump": true}</a:t>
            </a:r>
          </a:p>
        </p:txBody>
      </p:sp>
      <p:sp>
        <p:nvSpPr>
          <p:cNvPr id="24" name="Step 1">
            <a:extLst>
              <a:ext uri="{FF2B5EF4-FFF2-40B4-BE49-F238E27FC236}">
                <a16:creationId xmlns:a16="http://schemas.microsoft.com/office/drawing/2014/main" id="{6FE28ECB-0E43-55B0-C26E-6660DB898964}"/>
              </a:ext>
            </a:extLst>
          </p:cNvPr>
          <p:cNvSpPr txBox="1"/>
          <p:nvPr/>
        </p:nvSpPr>
        <p:spPr>
          <a:xfrm>
            <a:off x="5168900" y="27178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“Cây của tôi có cần tưới nước không?”</a:t>
            </a:r>
            <a:endParaRPr lang="en-US" sz="22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5" name="Step 2">
            <a:extLst>
              <a:ext uri="{FF2B5EF4-FFF2-40B4-BE49-F238E27FC236}">
                <a16:creationId xmlns:a16="http://schemas.microsoft.com/office/drawing/2014/main" id="{AE6A6271-4DD7-293B-19DA-85C321A6AE8A}"/>
              </a:ext>
            </a:extLst>
          </p:cNvPr>
          <p:cNvSpPr txBox="1"/>
          <p:nvPr/>
        </p:nvSpPr>
        <p:spPr>
          <a:xfrm>
            <a:off x="5168900" y="36576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Lấy danh sách tool</a:t>
            </a:r>
          </a:p>
        </p:txBody>
      </p:sp>
      <p:sp>
        <p:nvSpPr>
          <p:cNvPr id="26" name="Step 3">
            <a:extLst>
              <a:ext uri="{FF2B5EF4-FFF2-40B4-BE49-F238E27FC236}">
                <a16:creationId xmlns:a16="http://schemas.microsoft.com/office/drawing/2014/main" id="{93DDB1F6-FE31-A596-E669-A3C9E1ACEEDA}"/>
              </a:ext>
            </a:extLst>
          </p:cNvPr>
          <p:cNvSpPr txBox="1"/>
          <p:nvPr/>
        </p:nvSpPr>
        <p:spPr>
          <a:xfrm>
            <a:off x="5168900" y="45974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Gọi tool get_latest_sensor</a:t>
            </a:r>
          </a:p>
        </p:txBody>
      </p:sp>
      <p:sp>
        <p:nvSpPr>
          <p:cNvPr id="27" name="Step 4">
            <a:extLst>
              <a:ext uri="{FF2B5EF4-FFF2-40B4-BE49-F238E27FC236}">
                <a16:creationId xmlns:a16="http://schemas.microsoft.com/office/drawing/2014/main" id="{C2CDA5B3-ADF0-1D86-0F3B-D762D319D495}"/>
              </a:ext>
            </a:extLst>
          </p:cNvPr>
          <p:cNvSpPr txBox="1"/>
          <p:nvPr/>
        </p:nvSpPr>
        <p:spPr>
          <a:xfrm>
            <a:off x="5168900" y="55372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Nhận độ ẩm đất hiện tại</a:t>
            </a:r>
          </a:p>
        </p:txBody>
      </p:sp>
      <p:sp>
        <p:nvSpPr>
          <p:cNvPr id="28" name="Step 5">
            <a:extLst>
              <a:ext uri="{FF2B5EF4-FFF2-40B4-BE49-F238E27FC236}">
                <a16:creationId xmlns:a16="http://schemas.microsoft.com/office/drawing/2014/main" id="{97D3C893-CBAE-81E9-6AD1-8AF303B92498}"/>
              </a:ext>
            </a:extLst>
          </p:cNvPr>
          <p:cNvSpPr txBox="1"/>
          <p:nvPr/>
        </p:nvSpPr>
        <p:spPr>
          <a:xfrm>
            <a:off x="5168900" y="64770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23% là đất khô → quyết định tưới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29" name="Step 6">
            <a:extLst>
              <a:ext uri="{FF2B5EF4-FFF2-40B4-BE49-F238E27FC236}">
                <a16:creationId xmlns:a16="http://schemas.microsoft.com/office/drawing/2014/main" id="{4E1B41D8-C2CA-32A8-3083-F6D54C0FC29E}"/>
              </a:ext>
            </a:extLst>
          </p:cNvPr>
          <p:cNvSpPr txBox="1"/>
          <p:nvPr/>
        </p:nvSpPr>
        <p:spPr>
          <a:xfrm>
            <a:off x="5168900" y="74168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Gọi tool set_pump</a:t>
            </a:r>
          </a:p>
        </p:txBody>
      </p:sp>
      <p:sp>
        <p:nvSpPr>
          <p:cNvPr id="30" name="Step 7">
            <a:extLst>
              <a:ext uri="{FF2B5EF4-FFF2-40B4-BE49-F238E27FC236}">
                <a16:creationId xmlns:a16="http://schemas.microsoft.com/office/drawing/2014/main" id="{C89C9AC7-FA70-3729-E79C-4BF3E1C6E190}"/>
              </a:ext>
            </a:extLst>
          </p:cNvPr>
          <p:cNvSpPr txBox="1"/>
          <p:nvPr/>
        </p:nvSpPr>
        <p:spPr>
          <a:xfrm>
            <a:off x="5168900" y="8356600"/>
            <a:ext cx="6223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2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Gửi lệnh qua HiveMQ, bơm chạy</a:t>
            </a:r>
            <a:endParaRPr lang="en-US" sz="22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38" name="Progress seg 1">
            <a:extLst>
              <a:ext uri="{FF2B5EF4-FFF2-40B4-BE49-F238E27FC236}">
                <a16:creationId xmlns:a16="http://schemas.microsoft.com/office/drawing/2014/main" id="{CE02A9BD-5A07-B25C-35F9-2B9C55D4B67F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rogress seg 2">
            <a:extLst>
              <a:ext uri="{FF2B5EF4-FFF2-40B4-BE49-F238E27FC236}">
                <a16:creationId xmlns:a16="http://schemas.microsoft.com/office/drawing/2014/main" id="{4428A453-9C15-94DF-606F-99CB2E9C6A0A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rogress seg 3">
            <a:extLst>
              <a:ext uri="{FF2B5EF4-FFF2-40B4-BE49-F238E27FC236}">
                <a16:creationId xmlns:a16="http://schemas.microsoft.com/office/drawing/2014/main" id="{E0C608E0-410B-B0A2-7282-CDCBEBF5DE0E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rogress seg 4">
            <a:extLst>
              <a:ext uri="{FF2B5EF4-FFF2-40B4-BE49-F238E27FC236}">
                <a16:creationId xmlns:a16="http://schemas.microsoft.com/office/drawing/2014/main" id="{B44AF015-1CC2-3851-E597-434CF3013947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rogress seg 5">
            <a:extLst>
              <a:ext uri="{FF2B5EF4-FFF2-40B4-BE49-F238E27FC236}">
                <a16:creationId xmlns:a16="http://schemas.microsoft.com/office/drawing/2014/main" id="{FDA3A9A7-AAAF-B72C-0FEC-F66C084AC535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rogress seg 6">
            <a:extLst>
              <a:ext uri="{FF2B5EF4-FFF2-40B4-BE49-F238E27FC236}">
                <a16:creationId xmlns:a16="http://schemas.microsoft.com/office/drawing/2014/main" id="{D2D09F57-8DCF-47F4-953D-51853B37DF00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rogress label">
            <a:extLst>
              <a:ext uri="{FF2B5EF4-FFF2-40B4-BE49-F238E27FC236}">
                <a16:creationId xmlns:a16="http://schemas.microsoft.com/office/drawing/2014/main" id="{4E618F98-135B-69DD-D47D-0B2CAC41C3D4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9CBAE0-198E-26D6-4656-A90D51AC9389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Demo</a:t>
            </a:r>
          </a:p>
        </p:txBody>
      </p:sp>
      <p:sp>
        <p:nvSpPr>
          <p:cNvPr id="3" name="Demo card 1">
            <a:extLst>
              <a:ext uri="{FF2B5EF4-FFF2-40B4-BE49-F238E27FC236}">
                <a16:creationId xmlns:a16="http://schemas.microsoft.com/office/drawing/2014/main" id="{C746D03F-4140-90E1-E3C9-71B67812680E}"/>
              </a:ext>
            </a:extLst>
          </p:cNvPr>
          <p:cNvSpPr/>
          <p:nvPr/>
        </p:nvSpPr>
        <p:spPr>
          <a:xfrm>
            <a:off x="1028700" y="3276600"/>
            <a:ext cx="11671300" cy="1727200"/>
          </a:xfrm>
          <a:prstGeom prst="roundRect">
            <a:avLst>
              <a:gd name="adj" fmla="val 12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4" name="Demo badge 1">
            <a:extLst>
              <a:ext uri="{FF2B5EF4-FFF2-40B4-BE49-F238E27FC236}">
                <a16:creationId xmlns:a16="http://schemas.microsoft.com/office/drawing/2014/main" id="{ACF91F98-6158-B775-800F-893C20E02AD5}"/>
              </a:ext>
            </a:extLst>
          </p:cNvPr>
          <p:cNvSpPr/>
          <p:nvPr/>
        </p:nvSpPr>
        <p:spPr>
          <a:xfrm>
            <a:off x="1333500" y="3784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1</a:t>
            </a:r>
          </a:p>
        </p:txBody>
      </p:sp>
      <p:sp>
        <p:nvSpPr>
          <p:cNvPr id="5" name="Demo card 2">
            <a:extLst>
              <a:ext uri="{FF2B5EF4-FFF2-40B4-BE49-F238E27FC236}">
                <a16:creationId xmlns:a16="http://schemas.microsoft.com/office/drawing/2014/main" id="{8D1E1B49-3C9C-5CB1-9335-72DF1960FC60}"/>
              </a:ext>
            </a:extLst>
          </p:cNvPr>
          <p:cNvSpPr/>
          <p:nvPr/>
        </p:nvSpPr>
        <p:spPr>
          <a:xfrm>
            <a:off x="1028700" y="5181600"/>
            <a:ext cx="11671300" cy="1727200"/>
          </a:xfrm>
          <a:prstGeom prst="roundRect">
            <a:avLst>
              <a:gd name="adj" fmla="val 12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6" name="Demo badge 2">
            <a:extLst>
              <a:ext uri="{FF2B5EF4-FFF2-40B4-BE49-F238E27FC236}">
                <a16:creationId xmlns:a16="http://schemas.microsoft.com/office/drawing/2014/main" id="{312D5416-7DD8-97C5-A197-E4785BBF461B}"/>
              </a:ext>
            </a:extLst>
          </p:cNvPr>
          <p:cNvSpPr/>
          <p:nvPr/>
        </p:nvSpPr>
        <p:spPr>
          <a:xfrm>
            <a:off x="1333500" y="5689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2</a:t>
            </a:r>
          </a:p>
        </p:txBody>
      </p:sp>
      <p:sp>
        <p:nvSpPr>
          <p:cNvPr id="7" name="Demo card 3">
            <a:extLst>
              <a:ext uri="{FF2B5EF4-FFF2-40B4-BE49-F238E27FC236}">
                <a16:creationId xmlns:a16="http://schemas.microsoft.com/office/drawing/2014/main" id="{475329BB-036D-1C18-59C6-1D3715EBE3EA}"/>
              </a:ext>
            </a:extLst>
          </p:cNvPr>
          <p:cNvSpPr/>
          <p:nvPr/>
        </p:nvSpPr>
        <p:spPr>
          <a:xfrm>
            <a:off x="1028700" y="7086600"/>
            <a:ext cx="11671300" cy="1727200"/>
          </a:xfrm>
          <a:prstGeom prst="roundRect">
            <a:avLst>
              <a:gd name="adj" fmla="val 12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8" name="Demo badge 3">
            <a:extLst>
              <a:ext uri="{FF2B5EF4-FFF2-40B4-BE49-F238E27FC236}">
                <a16:creationId xmlns:a16="http://schemas.microsoft.com/office/drawing/2014/main" id="{D175952C-DA8A-34CB-9ED5-26C1D240D498}"/>
              </a:ext>
            </a:extLst>
          </p:cNvPr>
          <p:cNvSpPr/>
          <p:nvPr/>
        </p:nvSpPr>
        <p:spPr>
          <a:xfrm>
            <a:off x="1333500" y="7594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3</a:t>
            </a:r>
          </a:p>
        </p:txBody>
      </p:sp>
      <p:sp>
        <p:nvSpPr>
          <p:cNvPr id="9" name="Demo subtitle">
            <a:extLst>
              <a:ext uri="{FF2B5EF4-FFF2-40B4-BE49-F238E27FC236}">
                <a16:creationId xmlns:a16="http://schemas.microsoft.com/office/drawing/2014/main" id="{7E346EBA-9224-44CB-E2D7-8EDC2BE155AF}"/>
              </a:ext>
            </a:extLst>
          </p:cNvPr>
          <p:cNvSpPr txBox="1"/>
          <p:nvPr/>
        </p:nvSpPr>
        <p:spPr>
          <a:xfrm>
            <a:off x="1028700" y="2540000"/>
            <a:ext cx="116713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4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Chạy trực tiếp: thủ công → tự động theo ngưỡng → điều khiển bằng AI</a:t>
            </a:r>
            <a:endParaRPr lang="en-US" sz="24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Demo title 1">
            <a:extLst>
              <a:ext uri="{FF2B5EF4-FFF2-40B4-BE49-F238E27FC236}">
                <a16:creationId xmlns:a16="http://schemas.microsoft.com/office/drawing/2014/main" id="{3B8151BB-5E26-E506-F94F-2926E869F4EC}"/>
              </a:ext>
            </a:extLst>
          </p:cNvPr>
          <p:cNvSpPr txBox="1"/>
          <p:nvPr/>
        </p:nvSpPr>
        <p:spPr>
          <a:xfrm>
            <a:off x="2349500" y="3454400"/>
            <a:ext cx="1003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7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Điều khiển thủ công</a:t>
            </a:r>
          </a:p>
        </p:txBody>
      </p:sp>
      <p:sp>
        <p:nvSpPr>
          <p:cNvPr id="11" name="Demo desc 1">
            <a:extLst>
              <a:ext uri="{FF2B5EF4-FFF2-40B4-BE49-F238E27FC236}">
                <a16:creationId xmlns:a16="http://schemas.microsoft.com/office/drawing/2014/main" id="{576A0032-6B6F-73B2-9BF3-7C9C02D40657}"/>
              </a:ext>
            </a:extLst>
          </p:cNvPr>
          <p:cNvSpPr txBox="1"/>
          <p:nvPr/>
        </p:nvSpPr>
        <p:spPr>
          <a:xfrm>
            <a:off x="2349500" y="40132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Bấm bật/tắt bơm, đèn trên app →</a:t>
            </a:r>
            <a:b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lệnh đi qua MQTT, thiết bị phản hồi, app cập nhật trạng thái</a:t>
            </a:r>
            <a:endParaRPr lang="en-US" sz="20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2" name="Demo title 2">
            <a:extLst>
              <a:ext uri="{FF2B5EF4-FFF2-40B4-BE49-F238E27FC236}">
                <a16:creationId xmlns:a16="http://schemas.microsoft.com/office/drawing/2014/main" id="{24825DBB-8FA6-91B3-AA70-0B307B9862FC}"/>
              </a:ext>
            </a:extLst>
          </p:cNvPr>
          <p:cNvSpPr txBox="1"/>
          <p:nvPr/>
        </p:nvSpPr>
        <p:spPr>
          <a:xfrm>
            <a:off x="2349500" y="5359400"/>
            <a:ext cx="1003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7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Cài ngưỡng, xem server tự tưới (auto)</a:t>
            </a:r>
            <a:endParaRPr lang="en-US" sz="2700" b="1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3" name="Demo desc 2">
            <a:extLst>
              <a:ext uri="{FF2B5EF4-FFF2-40B4-BE49-F238E27FC236}">
                <a16:creationId xmlns:a16="http://schemas.microsoft.com/office/drawing/2014/main" id="{E710863D-C177-ED5C-1AE4-3101D01C2068}"/>
              </a:ext>
            </a:extLst>
          </p:cNvPr>
          <p:cNvSpPr txBox="1"/>
          <p:nvPr/>
        </p:nvSpPr>
        <p:spPr>
          <a:xfrm>
            <a:off x="2349500" y="59182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Đặt ngưỡng bật bơm cao hơn độ ẩm hiện tại →</a:t>
            </a:r>
            <a:b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sau ~10 giây server tự bật bơm; đất đủ ẩm thì tự tắt</a:t>
            </a:r>
            <a:endParaRPr lang="en-US" sz="20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4" name="Demo title 3">
            <a:extLst>
              <a:ext uri="{FF2B5EF4-FFF2-40B4-BE49-F238E27FC236}">
                <a16:creationId xmlns:a16="http://schemas.microsoft.com/office/drawing/2014/main" id="{914E046D-3FF2-DCBC-E496-182F5DE2309A}"/>
              </a:ext>
            </a:extLst>
          </p:cNvPr>
          <p:cNvSpPr txBox="1"/>
          <p:nvPr/>
        </p:nvSpPr>
        <p:spPr>
          <a:xfrm>
            <a:off x="2349500" y="7264400"/>
            <a:ext cx="1003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7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Hỏi tình trạng cây, ra lệnh bằng prompt</a:t>
            </a:r>
          </a:p>
        </p:txBody>
      </p:sp>
      <p:sp>
        <p:nvSpPr>
          <p:cNvPr id="15" name="Demo desc 3">
            <a:extLst>
              <a:ext uri="{FF2B5EF4-FFF2-40B4-BE49-F238E27FC236}">
                <a16:creationId xmlns:a16="http://schemas.microsoft.com/office/drawing/2014/main" id="{CCCCDEA7-73C4-2C15-5DD8-28B5CD3D28F7}"/>
              </a:ext>
            </a:extLst>
          </p:cNvPr>
          <p:cNvSpPr txBox="1"/>
          <p:nvPr/>
        </p:nvSpPr>
        <p:spPr>
          <a:xfrm>
            <a:off x="2349500" y="7823200"/>
            <a:ext cx="10033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“Cây của tôi có cần tưới nước không?” → AI đọc cảm biến và trả lời</a:t>
            </a:r>
            <a:b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 sz="20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“Tưới giúp tôi” → AI gọi set_pump</a:t>
            </a:r>
            <a:endParaRPr lang="en-US" sz="2000">
              <a:solidFill>
                <a:srgbClr val="6D8856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pic>
        <p:nvPicPr>
          <p:cNvPr id="17" name="Demo phone">
            <a:extLst>
              <a:ext uri="{FF2B5EF4-FFF2-40B4-BE49-F238E27FC236}">
                <a16:creationId xmlns:a16="http://schemas.microsoft.com/office/drawing/2014/main" id="{6FDDED47-F182-5A2F-F4F4-CF3518561D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0" y="3276600"/>
            <a:ext cx="2662456" cy="5537200"/>
          </a:xfrm>
          <a:prstGeom prst="rect">
            <a:avLst/>
          </a:prstGeom>
        </p:spPr>
      </p:pic>
      <p:sp>
        <p:nvSpPr>
          <p:cNvPr id="25" name="Progress seg 1">
            <a:extLst>
              <a:ext uri="{FF2B5EF4-FFF2-40B4-BE49-F238E27FC236}">
                <a16:creationId xmlns:a16="http://schemas.microsoft.com/office/drawing/2014/main" id="{27AD7C5D-AD15-BFD1-54E8-C05962AA8021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rogress seg 2">
            <a:extLst>
              <a:ext uri="{FF2B5EF4-FFF2-40B4-BE49-F238E27FC236}">
                <a16:creationId xmlns:a16="http://schemas.microsoft.com/office/drawing/2014/main" id="{FF0D1764-39FC-9A41-7A00-D581AEB15DF7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rogress seg 3">
            <a:extLst>
              <a:ext uri="{FF2B5EF4-FFF2-40B4-BE49-F238E27FC236}">
                <a16:creationId xmlns:a16="http://schemas.microsoft.com/office/drawing/2014/main" id="{9709D3D9-06DD-ACD0-DD66-25ED886282BB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rogress seg 4">
            <a:extLst>
              <a:ext uri="{FF2B5EF4-FFF2-40B4-BE49-F238E27FC236}">
                <a16:creationId xmlns:a16="http://schemas.microsoft.com/office/drawing/2014/main" id="{6A919961-5E4E-C6B5-93D2-636F456BA49F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rogress seg 5">
            <a:extLst>
              <a:ext uri="{FF2B5EF4-FFF2-40B4-BE49-F238E27FC236}">
                <a16:creationId xmlns:a16="http://schemas.microsoft.com/office/drawing/2014/main" id="{2FDAED69-FA80-5FC3-EB53-A10307D79C38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rogress seg 6">
            <a:extLst>
              <a:ext uri="{FF2B5EF4-FFF2-40B4-BE49-F238E27FC236}">
                <a16:creationId xmlns:a16="http://schemas.microsoft.com/office/drawing/2014/main" id="{5FDBB086-4CA3-EF4B-ED1E-BBBEBA94F1EE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DCE7D3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rogress label">
            <a:extLst>
              <a:ext uri="{FF2B5EF4-FFF2-40B4-BE49-F238E27FC236}">
                <a16:creationId xmlns:a16="http://schemas.microsoft.com/office/drawing/2014/main" id="{74B23337-C64E-168E-F1BE-27B0FB1D619D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Demo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21 / 25</a:t>
            </a:r>
          </a:p>
        </p:txBody>
      </p:sp>
    </p:spTree>
    <p:extLst>
      <p:ext uri="{BB962C8B-B14F-4D97-AF65-F5344CB8AC3E}">
        <p14:creationId xmlns:p14="http://schemas.microsoft.com/office/powerpoint/2010/main" val="2655616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38225"/>
            <a:ext cx="6307321" cy="120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MCP Server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2490"/>
            <a:ext cx="6731000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Áp dụng MCP Server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vào công việc</a:t>
            </a:r>
            <a:b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</a:br>
            <a:r>
              <a:rPr lang="vi-VN" sz="5000" b="1" i="1">
                <a:solidFill>
                  <a:srgbClr val="6D8856"/>
                </a:solidFill>
                <a:latin typeface="Noto Sans Bold Italics"/>
                <a:ea typeface="Noto Sans Bold Italics"/>
                <a:cs typeface="Noto Sans Bold Italics"/>
                <a:sym typeface="Noto Sans Bold Italics"/>
              </a:rPr>
              <a:t>như thế nào?</a:t>
            </a:r>
            <a:endParaRPr lang="en-US" sz="5000" b="1" i="1">
              <a:solidFill>
                <a:srgbClr val="6D8856"/>
              </a:solidFill>
              <a:latin typeface="Noto Sans Bold Italics"/>
              <a:ea typeface="Noto Sans Bold Italics"/>
              <a:cs typeface="Noto Sans Bold Italics"/>
              <a:sym typeface="Noto Sans Bold Italics"/>
            </a:endParaRPr>
          </a:p>
        </p:txBody>
      </p:sp>
      <p:sp>
        <p:nvSpPr>
          <p:cNvPr id="12" name="Progress seg 1">
            <a:extLst>
              <a:ext uri="{FF2B5EF4-FFF2-40B4-BE49-F238E27FC236}">
                <a16:creationId xmlns:a16="http://schemas.microsoft.com/office/drawing/2014/main" id="{D2E27D20-0867-5BFB-D34F-2444965B10AF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gress seg 2">
            <a:extLst>
              <a:ext uri="{FF2B5EF4-FFF2-40B4-BE49-F238E27FC236}">
                <a16:creationId xmlns:a16="http://schemas.microsoft.com/office/drawing/2014/main" id="{8C2E0DC1-AA21-62B0-6949-358F9B50EB49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rogress seg 3">
            <a:extLst>
              <a:ext uri="{FF2B5EF4-FFF2-40B4-BE49-F238E27FC236}">
                <a16:creationId xmlns:a16="http://schemas.microsoft.com/office/drawing/2014/main" id="{25288587-6F4B-5C3E-A314-1FC9D41273E8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gress seg 4">
            <a:extLst>
              <a:ext uri="{FF2B5EF4-FFF2-40B4-BE49-F238E27FC236}">
                <a16:creationId xmlns:a16="http://schemas.microsoft.com/office/drawing/2014/main" id="{024AD0A8-766D-605E-8D16-D87EF71091ED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rogress seg 5">
            <a:extLst>
              <a:ext uri="{FF2B5EF4-FFF2-40B4-BE49-F238E27FC236}">
                <a16:creationId xmlns:a16="http://schemas.microsoft.com/office/drawing/2014/main" id="{C3670963-E135-0D47-BAD9-C40D005994E7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rogress seg 6">
            <a:extLst>
              <a:ext uri="{FF2B5EF4-FFF2-40B4-BE49-F238E27FC236}">
                <a16:creationId xmlns:a16="http://schemas.microsoft.com/office/drawing/2014/main" id="{50C0498B-CEB9-37B2-BD36-0D66F5D3CBE7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rogress label">
            <a:extLst>
              <a:ext uri="{FF2B5EF4-FFF2-40B4-BE49-F238E27FC236}">
                <a16:creationId xmlns:a16="http://schemas.microsoft.com/office/drawing/2014/main" id="{0C0FED9D-67E3-1898-40E8-A3FA6D5FD060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Áp dụng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99" y="1038225"/>
            <a:ext cx="162306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80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Áp dụng MCP vào công việc</a:t>
            </a:r>
          </a:p>
        </p:txBody>
      </p:sp>
      <p:sp>
        <p:nvSpPr>
          <p:cNvPr id="4" name="Card Jira">
            <a:extLst>
              <a:ext uri="{FF2B5EF4-FFF2-40B4-BE49-F238E27FC236}">
                <a16:creationId xmlns:a16="http://schemas.microsoft.com/office/drawing/2014/main" id="{1D1EFE82-4BEB-AF63-5504-9FA046B20F95}"/>
              </a:ext>
            </a:extLst>
          </p:cNvPr>
          <p:cNvSpPr/>
          <p:nvPr/>
        </p:nvSpPr>
        <p:spPr>
          <a:xfrm>
            <a:off x="1028700" y="2895600"/>
            <a:ext cx="5105400" cy="6096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5" name="Card Jira prompt">
            <a:extLst>
              <a:ext uri="{FF2B5EF4-FFF2-40B4-BE49-F238E27FC236}">
                <a16:creationId xmlns:a16="http://schemas.microsoft.com/office/drawing/2014/main" id="{E37D7001-C18D-6D5C-84D4-AAD213DD58DF}"/>
              </a:ext>
            </a:extLst>
          </p:cNvPr>
          <p:cNvSpPr/>
          <p:nvPr/>
        </p:nvSpPr>
        <p:spPr>
          <a:xfrm>
            <a:off x="1282700" y="4800600"/>
            <a:ext cx="45974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2200" i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“Tìm các ticket In Progress của tôi và chuyển ABC-123 sang Done”</a:t>
            </a:r>
          </a:p>
        </p:txBody>
      </p:sp>
      <p:sp>
        <p:nvSpPr>
          <p:cNvPr id="6" name="Card Database">
            <a:extLst>
              <a:ext uri="{FF2B5EF4-FFF2-40B4-BE49-F238E27FC236}">
                <a16:creationId xmlns:a16="http://schemas.microsoft.com/office/drawing/2014/main" id="{C5678217-39F5-8986-CBD9-0CBF7FBD763F}"/>
              </a:ext>
            </a:extLst>
          </p:cNvPr>
          <p:cNvSpPr/>
          <p:nvPr/>
        </p:nvSpPr>
        <p:spPr>
          <a:xfrm>
            <a:off x="6591300" y="2895600"/>
            <a:ext cx="5105400" cy="6096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7" name="Card Database prompt">
            <a:extLst>
              <a:ext uri="{FF2B5EF4-FFF2-40B4-BE49-F238E27FC236}">
                <a16:creationId xmlns:a16="http://schemas.microsoft.com/office/drawing/2014/main" id="{5FDE5773-1ACF-1218-7126-64FA7A96C83B}"/>
              </a:ext>
            </a:extLst>
          </p:cNvPr>
          <p:cNvSpPr/>
          <p:nvPr/>
        </p:nvSpPr>
        <p:spPr>
          <a:xfrm>
            <a:off x="6845300" y="4800600"/>
            <a:ext cx="45974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2200" i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“Tuần này có bao nhiêu user mới đăng ký?”</a:t>
            </a:r>
          </a:p>
        </p:txBody>
      </p:sp>
      <p:sp>
        <p:nvSpPr>
          <p:cNvPr id="8" name="Card Database warning">
            <a:extLst>
              <a:ext uri="{FF2B5EF4-FFF2-40B4-BE49-F238E27FC236}">
                <a16:creationId xmlns:a16="http://schemas.microsoft.com/office/drawing/2014/main" id="{E47D6017-B8D2-E1A4-7623-827802BD396F}"/>
              </a:ext>
            </a:extLst>
          </p:cNvPr>
          <p:cNvSpPr/>
          <p:nvPr/>
        </p:nvSpPr>
        <p:spPr>
          <a:xfrm>
            <a:off x="6845300" y="6985000"/>
            <a:ext cx="4597400" cy="1651000"/>
          </a:xfrm>
          <a:prstGeom prst="roundRect">
            <a:avLst>
              <a:gd name="adj" fmla="val 12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Lưu ý quyền: chỉ cấp tài khoản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read‑only cho AI, không cho xoá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dữ liệu hay chạy migration</a:t>
            </a:r>
            <a:b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</a:br>
            <a:r>
              <a:rPr lang="vi-VN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trên Production</a:t>
            </a:r>
            <a:endParaRPr lang="en-US">
              <a:solidFill>
                <a:srgbClr val="FFFFF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9" name="Card Playwright">
            <a:extLst>
              <a:ext uri="{FF2B5EF4-FFF2-40B4-BE49-F238E27FC236}">
                <a16:creationId xmlns:a16="http://schemas.microsoft.com/office/drawing/2014/main" id="{ACCC1D22-0321-D3E9-A2B4-8E03B7F15B19}"/>
              </a:ext>
            </a:extLst>
          </p:cNvPr>
          <p:cNvSpPr/>
          <p:nvPr/>
        </p:nvSpPr>
        <p:spPr>
          <a:xfrm>
            <a:off x="12153900" y="2895600"/>
            <a:ext cx="5105400" cy="609600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endParaRPr lang="en-US" sz="1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Card Playwright prompt">
            <a:extLst>
              <a:ext uri="{FF2B5EF4-FFF2-40B4-BE49-F238E27FC236}">
                <a16:creationId xmlns:a16="http://schemas.microsoft.com/office/drawing/2014/main" id="{F2C1DF28-6B8B-9009-C9C3-9ADA361904DB}"/>
              </a:ext>
            </a:extLst>
          </p:cNvPr>
          <p:cNvSpPr/>
          <p:nvPr/>
        </p:nvSpPr>
        <p:spPr>
          <a:xfrm>
            <a:off x="12407900" y="4800600"/>
            <a:ext cx="45974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50800" rIns="228600" bIns="50800" rtlCol="0" anchor="ctr"/>
          <a:lstStyle/>
          <a:p>
            <a:r>
              <a:rPr lang="en-US" sz="2200" i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“Mở trang đăng nhập, login bằng tài khoản test và chụp màn hình dashboard”</a:t>
            </a:r>
          </a:p>
        </p:txBody>
      </p:sp>
      <p:sp>
        <p:nvSpPr>
          <p:cNvPr id="11" name="Card Jira name">
            <a:extLst>
              <a:ext uri="{FF2B5EF4-FFF2-40B4-BE49-F238E27FC236}">
                <a16:creationId xmlns:a16="http://schemas.microsoft.com/office/drawing/2014/main" id="{CF049615-51F2-E603-3D35-0378048AF3C9}"/>
              </a:ext>
            </a:extLst>
          </p:cNvPr>
          <p:cNvSpPr txBox="1"/>
          <p:nvPr/>
        </p:nvSpPr>
        <p:spPr>
          <a:xfrm>
            <a:off x="1358900" y="3175000"/>
            <a:ext cx="444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Jira</a:t>
            </a:r>
          </a:p>
        </p:txBody>
      </p:sp>
      <p:sp>
        <p:nvSpPr>
          <p:cNvPr id="12" name="Card Jira desc">
            <a:extLst>
              <a:ext uri="{FF2B5EF4-FFF2-40B4-BE49-F238E27FC236}">
                <a16:creationId xmlns:a16="http://schemas.microsoft.com/office/drawing/2014/main" id="{A7E61B72-C049-882B-283E-628E100BB933}"/>
              </a:ext>
            </a:extLst>
          </p:cNvPr>
          <p:cNvSpPr txBox="1"/>
          <p:nvPr/>
        </p:nvSpPr>
        <p:spPr>
          <a:xfrm>
            <a:off x="1358900" y="37846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Tìm kiếm, cập nhật status ticket nhanh</a:t>
            </a:r>
          </a:p>
        </p:txBody>
      </p:sp>
      <p:sp>
        <p:nvSpPr>
          <p:cNvPr id="13" name="Card Jira prompt label">
            <a:extLst>
              <a:ext uri="{FF2B5EF4-FFF2-40B4-BE49-F238E27FC236}">
                <a16:creationId xmlns:a16="http://schemas.microsoft.com/office/drawing/2014/main" id="{66EABCCF-52E0-FB8A-5B89-864B81F8A22C}"/>
              </a:ext>
            </a:extLst>
          </p:cNvPr>
          <p:cNvSpPr txBox="1"/>
          <p:nvPr/>
        </p:nvSpPr>
        <p:spPr>
          <a:xfrm>
            <a:off x="1358900" y="44196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Ví dụ prompt</a:t>
            </a:r>
          </a:p>
        </p:txBody>
      </p:sp>
      <p:sp>
        <p:nvSpPr>
          <p:cNvPr id="14" name="Card Jira link label">
            <a:extLst>
              <a:ext uri="{FF2B5EF4-FFF2-40B4-BE49-F238E27FC236}">
                <a16:creationId xmlns:a16="http://schemas.microsoft.com/office/drawing/2014/main" id="{F8C73DC4-DDFC-E601-9243-9723D8AAE539}"/>
              </a:ext>
            </a:extLst>
          </p:cNvPr>
          <p:cNvSpPr txBox="1"/>
          <p:nvPr/>
        </p:nvSpPr>
        <p:spPr>
          <a:xfrm>
            <a:off x="1358900" y="71120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Danh sách tool hỗ trợ</a:t>
            </a:r>
          </a:p>
        </p:txBody>
      </p:sp>
      <p:sp>
        <p:nvSpPr>
          <p:cNvPr id="15" name="Card Jira link">
            <a:hlinkClick r:id="rId2"/>
            <a:extLst>
              <a:ext uri="{FF2B5EF4-FFF2-40B4-BE49-F238E27FC236}">
                <a16:creationId xmlns:a16="http://schemas.microsoft.com/office/drawing/2014/main" id="{58E4DC63-A4CD-164C-3989-9746E76FE597}"/>
              </a:ext>
            </a:extLst>
          </p:cNvPr>
          <p:cNvSpPr txBox="1"/>
          <p:nvPr/>
        </p:nvSpPr>
        <p:spPr>
          <a:xfrm>
            <a:off x="1358900" y="74930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u="sng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support.atlassian.com/…/supported-tools</a:t>
            </a:r>
          </a:p>
        </p:txBody>
      </p:sp>
      <p:sp>
        <p:nvSpPr>
          <p:cNvPr id="16" name="Card Database name">
            <a:extLst>
              <a:ext uri="{FF2B5EF4-FFF2-40B4-BE49-F238E27FC236}">
                <a16:creationId xmlns:a16="http://schemas.microsoft.com/office/drawing/2014/main" id="{D8F28DB9-1BCA-BF85-08D7-BC45439A3009}"/>
              </a:ext>
            </a:extLst>
          </p:cNvPr>
          <p:cNvSpPr txBox="1"/>
          <p:nvPr/>
        </p:nvSpPr>
        <p:spPr>
          <a:xfrm>
            <a:off x="6921500" y="3175000"/>
            <a:ext cx="444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Database</a:t>
            </a:r>
          </a:p>
        </p:txBody>
      </p:sp>
      <p:sp>
        <p:nvSpPr>
          <p:cNvPr id="17" name="Card Database desc">
            <a:extLst>
              <a:ext uri="{FF2B5EF4-FFF2-40B4-BE49-F238E27FC236}">
                <a16:creationId xmlns:a16="http://schemas.microsoft.com/office/drawing/2014/main" id="{99454092-87A4-9E5F-9D15-C182CC9F24B9}"/>
              </a:ext>
            </a:extLst>
          </p:cNvPr>
          <p:cNvSpPr txBox="1"/>
          <p:nvPr/>
        </p:nvSpPr>
        <p:spPr>
          <a:xfrm>
            <a:off x="6921500" y="37846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Truy vấn, sửa dữ liệu, migration</a:t>
            </a:r>
          </a:p>
        </p:txBody>
      </p:sp>
      <p:sp>
        <p:nvSpPr>
          <p:cNvPr id="18" name="Card Database prompt label">
            <a:extLst>
              <a:ext uri="{FF2B5EF4-FFF2-40B4-BE49-F238E27FC236}">
                <a16:creationId xmlns:a16="http://schemas.microsoft.com/office/drawing/2014/main" id="{9D8AA027-B3FD-88A3-99A2-1C886113A44D}"/>
              </a:ext>
            </a:extLst>
          </p:cNvPr>
          <p:cNvSpPr txBox="1"/>
          <p:nvPr/>
        </p:nvSpPr>
        <p:spPr>
          <a:xfrm>
            <a:off x="6921500" y="44196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Ví dụ prompt</a:t>
            </a:r>
          </a:p>
        </p:txBody>
      </p:sp>
      <p:sp>
        <p:nvSpPr>
          <p:cNvPr id="19" name="Card Playwright name">
            <a:extLst>
              <a:ext uri="{FF2B5EF4-FFF2-40B4-BE49-F238E27FC236}">
                <a16:creationId xmlns:a16="http://schemas.microsoft.com/office/drawing/2014/main" id="{BFF22867-6EEB-AA46-401B-C733896BF161}"/>
              </a:ext>
            </a:extLst>
          </p:cNvPr>
          <p:cNvSpPr txBox="1"/>
          <p:nvPr/>
        </p:nvSpPr>
        <p:spPr>
          <a:xfrm>
            <a:off x="12484100" y="3175000"/>
            <a:ext cx="4445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Playwright</a:t>
            </a:r>
          </a:p>
        </p:txBody>
      </p:sp>
      <p:sp>
        <p:nvSpPr>
          <p:cNvPr id="20" name="Card Playwright desc">
            <a:extLst>
              <a:ext uri="{FF2B5EF4-FFF2-40B4-BE49-F238E27FC236}">
                <a16:creationId xmlns:a16="http://schemas.microsoft.com/office/drawing/2014/main" id="{D7186C94-05AA-19D0-D768-E4019AC723FC}"/>
              </a:ext>
            </a:extLst>
          </p:cNvPr>
          <p:cNvSpPr txBox="1"/>
          <p:nvPr/>
        </p:nvSpPr>
        <p:spPr>
          <a:xfrm>
            <a:off x="12484100" y="3784600"/>
            <a:ext cx="444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Automation testing trên trình duyệt</a:t>
            </a:r>
          </a:p>
        </p:txBody>
      </p:sp>
      <p:sp>
        <p:nvSpPr>
          <p:cNvPr id="21" name="Card Playwright prompt label">
            <a:extLst>
              <a:ext uri="{FF2B5EF4-FFF2-40B4-BE49-F238E27FC236}">
                <a16:creationId xmlns:a16="http://schemas.microsoft.com/office/drawing/2014/main" id="{23640EC4-162E-B71A-B43E-70A4691BFE8C}"/>
              </a:ext>
            </a:extLst>
          </p:cNvPr>
          <p:cNvSpPr txBox="1"/>
          <p:nvPr/>
        </p:nvSpPr>
        <p:spPr>
          <a:xfrm>
            <a:off x="12484100" y="44196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Ví dụ prompt</a:t>
            </a:r>
          </a:p>
        </p:txBody>
      </p:sp>
      <p:sp>
        <p:nvSpPr>
          <p:cNvPr id="22" name="Card Playwright link label">
            <a:extLst>
              <a:ext uri="{FF2B5EF4-FFF2-40B4-BE49-F238E27FC236}">
                <a16:creationId xmlns:a16="http://schemas.microsoft.com/office/drawing/2014/main" id="{523589F2-7A88-528F-AE82-350C1C08439E}"/>
              </a:ext>
            </a:extLst>
          </p:cNvPr>
          <p:cNvSpPr txBox="1"/>
          <p:nvPr/>
        </p:nvSpPr>
        <p:spPr>
          <a:xfrm>
            <a:off x="12484100" y="7112000"/>
            <a:ext cx="4445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Repo chính thức</a:t>
            </a:r>
          </a:p>
        </p:txBody>
      </p:sp>
      <p:sp>
        <p:nvSpPr>
          <p:cNvPr id="23" name="Card Playwright link">
            <a:hlinkClick r:id="rId3"/>
            <a:extLst>
              <a:ext uri="{FF2B5EF4-FFF2-40B4-BE49-F238E27FC236}">
                <a16:creationId xmlns:a16="http://schemas.microsoft.com/office/drawing/2014/main" id="{E5651A35-5E57-6DF8-DA8F-8D2D125BE73A}"/>
              </a:ext>
            </a:extLst>
          </p:cNvPr>
          <p:cNvSpPr txBox="1"/>
          <p:nvPr/>
        </p:nvSpPr>
        <p:spPr>
          <a:xfrm>
            <a:off x="12484100" y="74930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u="sng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github.com/microsoft/playwright-mcp</a:t>
            </a:r>
          </a:p>
        </p:txBody>
      </p:sp>
      <p:sp>
        <p:nvSpPr>
          <p:cNvPr id="31" name="Progress seg 1">
            <a:extLst>
              <a:ext uri="{FF2B5EF4-FFF2-40B4-BE49-F238E27FC236}">
                <a16:creationId xmlns:a16="http://schemas.microsoft.com/office/drawing/2014/main" id="{AF3BF9D7-BA7E-9A79-2B48-A7A6EFB1E321}"/>
              </a:ext>
            </a:extLst>
          </p:cNvPr>
          <p:cNvSpPr/>
          <p:nvPr/>
        </p:nvSpPr>
        <p:spPr>
          <a:xfrm>
            <a:off x="102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gress seg 2">
            <a:extLst>
              <a:ext uri="{FF2B5EF4-FFF2-40B4-BE49-F238E27FC236}">
                <a16:creationId xmlns:a16="http://schemas.microsoft.com/office/drawing/2014/main" id="{968AB130-24A5-9303-65A1-4080D0880640}"/>
              </a:ext>
            </a:extLst>
          </p:cNvPr>
          <p:cNvSpPr/>
          <p:nvPr/>
        </p:nvSpPr>
        <p:spPr>
          <a:xfrm>
            <a:off x="1536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gress seg 3">
            <a:extLst>
              <a:ext uri="{FF2B5EF4-FFF2-40B4-BE49-F238E27FC236}">
                <a16:creationId xmlns:a16="http://schemas.microsoft.com/office/drawing/2014/main" id="{4F7ADD3B-9850-6E27-1AB7-93DEC034B5FC}"/>
              </a:ext>
            </a:extLst>
          </p:cNvPr>
          <p:cNvSpPr/>
          <p:nvPr/>
        </p:nvSpPr>
        <p:spPr>
          <a:xfrm>
            <a:off x="2044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gress seg 4">
            <a:extLst>
              <a:ext uri="{FF2B5EF4-FFF2-40B4-BE49-F238E27FC236}">
                <a16:creationId xmlns:a16="http://schemas.microsoft.com/office/drawing/2014/main" id="{3A7F6381-EC7C-E1F8-BE23-0EB025787117}"/>
              </a:ext>
            </a:extLst>
          </p:cNvPr>
          <p:cNvSpPr/>
          <p:nvPr/>
        </p:nvSpPr>
        <p:spPr>
          <a:xfrm>
            <a:off x="2552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gress seg 5">
            <a:extLst>
              <a:ext uri="{FF2B5EF4-FFF2-40B4-BE49-F238E27FC236}">
                <a16:creationId xmlns:a16="http://schemas.microsoft.com/office/drawing/2014/main" id="{669701CF-F376-66C4-E665-594517747C5D}"/>
              </a:ext>
            </a:extLst>
          </p:cNvPr>
          <p:cNvSpPr/>
          <p:nvPr/>
        </p:nvSpPr>
        <p:spPr>
          <a:xfrm>
            <a:off x="3060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9DBA86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gress seg 6">
            <a:extLst>
              <a:ext uri="{FF2B5EF4-FFF2-40B4-BE49-F238E27FC236}">
                <a16:creationId xmlns:a16="http://schemas.microsoft.com/office/drawing/2014/main" id="{E10B6AFC-C3B8-9297-22F5-A40043DAD5EF}"/>
              </a:ext>
            </a:extLst>
          </p:cNvPr>
          <p:cNvSpPr/>
          <p:nvPr/>
        </p:nvSpPr>
        <p:spPr>
          <a:xfrm>
            <a:off x="3568700" y="9880600"/>
            <a:ext cx="431800" cy="762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gress label">
            <a:extLst>
              <a:ext uri="{FF2B5EF4-FFF2-40B4-BE49-F238E27FC236}">
                <a16:creationId xmlns:a16="http://schemas.microsoft.com/office/drawing/2014/main" id="{042571BD-04B0-F1C6-A4C6-70DA44FD0ECF}"/>
              </a:ext>
            </a:extLst>
          </p:cNvPr>
          <p:cNvSpPr txBox="1"/>
          <p:nvPr/>
        </p:nvSpPr>
        <p:spPr>
          <a:xfrm>
            <a:off x="4203700" y="9753600"/>
            <a:ext cx="184731" cy="3693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sz="1600" b="1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Áp dụng</a:t>
            </a:r>
            <a:r>
              <a:rPr lang="en-US" sz="1600">
                <a:solidFill>
                  <a:srgbClr val="6D8856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  ·  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02AE7EF-822A-91D0-0339-D313C0849C79}"/>
              </a:ext>
            </a:extLst>
          </p:cNvPr>
          <p:cNvSpPr txBox="1"/>
          <p:nvPr/>
        </p:nvSpPr>
        <p:spPr>
          <a:xfrm>
            <a:off x="1028700" y="1038225"/>
            <a:ext cx="16230600" cy="12013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ts val="9599"/>
              </a:lnSpc>
            </a:pPr>
            <a:r>
              <a:rPr lang="en-US" sz="7999" b="1">
                <a:solidFill>
                  <a:srgbClr val="6D8856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Tóm tắt</a:t>
            </a:r>
          </a:p>
        </p:txBody>
      </p:sp>
      <p:sp>
        <p:nvSpPr>
          <p:cNvPr id="3" name="Sum badge 1">
            <a:extLst>
              <a:ext uri="{FF2B5EF4-FFF2-40B4-BE49-F238E27FC236}">
                <a16:creationId xmlns:a16="http://schemas.microsoft.com/office/drawing/2014/main" id="{9C2F2C94-25AD-3DE8-BC48-E13B50631A26}"/>
              </a:ext>
            </a:extLst>
          </p:cNvPr>
          <p:cNvSpPr/>
          <p:nvPr/>
        </p:nvSpPr>
        <p:spPr>
          <a:xfrm>
            <a:off x="1028700" y="2819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  <a:sym typeface="Montserrat" panose="00000500000000000000" pitchFamily="2" charset="0"/>
              </a:rPr>
              <a:t>01</a:t>
            </a:r>
          </a:p>
        </p:txBody>
      </p:sp>
      <p:sp>
        <p:nvSpPr>
          <p:cNvPr id="4" name="Sum badge 2">
            <a:extLst>
              <a:ext uri="{FF2B5EF4-FFF2-40B4-BE49-F238E27FC236}">
                <a16:creationId xmlns:a16="http://schemas.microsoft.com/office/drawing/2014/main" id="{A62F7DEF-EACB-C2DA-F48D-8485E05458E6}"/>
              </a:ext>
            </a:extLst>
          </p:cNvPr>
          <p:cNvSpPr/>
          <p:nvPr/>
        </p:nvSpPr>
        <p:spPr>
          <a:xfrm>
            <a:off x="1028700" y="4089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  <a:sym typeface="Montserrat" panose="00000500000000000000" pitchFamily="2" charset="0"/>
              </a:rPr>
              <a:t>02</a:t>
            </a:r>
          </a:p>
        </p:txBody>
      </p:sp>
      <p:sp>
        <p:nvSpPr>
          <p:cNvPr id="5" name="Sum badge 3">
            <a:extLst>
              <a:ext uri="{FF2B5EF4-FFF2-40B4-BE49-F238E27FC236}">
                <a16:creationId xmlns:a16="http://schemas.microsoft.com/office/drawing/2014/main" id="{091BB6F9-64FE-66E1-6F9F-2A1F91B045E3}"/>
              </a:ext>
            </a:extLst>
          </p:cNvPr>
          <p:cNvSpPr/>
          <p:nvPr/>
        </p:nvSpPr>
        <p:spPr>
          <a:xfrm>
            <a:off x="1028700" y="5359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  <a:sym typeface="Montserrat" panose="00000500000000000000" pitchFamily="2" charset="0"/>
              </a:rPr>
              <a:t>03</a:t>
            </a:r>
          </a:p>
        </p:txBody>
      </p:sp>
      <p:sp>
        <p:nvSpPr>
          <p:cNvPr id="6" name="Sum badge 4">
            <a:extLst>
              <a:ext uri="{FF2B5EF4-FFF2-40B4-BE49-F238E27FC236}">
                <a16:creationId xmlns:a16="http://schemas.microsoft.com/office/drawing/2014/main" id="{BA060BAF-7B18-7A24-64D9-F2418A0F1565}"/>
              </a:ext>
            </a:extLst>
          </p:cNvPr>
          <p:cNvSpPr/>
          <p:nvPr/>
        </p:nvSpPr>
        <p:spPr>
          <a:xfrm>
            <a:off x="1028700" y="6629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0800" rIns="0" bIns="50800" rtlCol="0" anchor="ctr"/>
          <a:lstStyle/>
          <a:p>
            <a:pPr algn="ctr"/>
            <a:r>
              <a:rPr lang="en-US" sz="3000" b="1">
                <a:solidFill>
                  <a:srgbClr val="FFFFFF"/>
                </a:solidFill>
                <a:latin typeface="Montserrat" panose="00000500000000000000" pitchFamily="2" charset="0"/>
                <a:sym typeface="Montserrat" panose="00000500000000000000" pitchFamily="2" charset="0"/>
              </a:rPr>
              <a:t>04</a:t>
            </a:r>
          </a:p>
        </p:txBody>
      </p:sp>
      <p:sp>
        <p:nvSpPr>
          <p:cNvPr id="7" name="Sum QA">
            <a:extLst>
              <a:ext uri="{FF2B5EF4-FFF2-40B4-BE49-F238E27FC236}">
                <a16:creationId xmlns:a16="http://schemas.microsoft.com/office/drawing/2014/main" id="{63F6870E-4DB7-7C87-0F98-5B56F3BCE1B7}"/>
              </a:ext>
            </a:extLst>
          </p:cNvPr>
          <p:cNvSpPr/>
          <p:nvPr/>
        </p:nvSpPr>
        <p:spPr>
          <a:xfrm>
            <a:off x="1028700" y="8255000"/>
            <a:ext cx="4191000" cy="914400"/>
          </a:xfrm>
          <a:prstGeom prst="roundRect">
            <a:avLst>
              <a:gd name="adj" fmla="val 50000"/>
            </a:avLst>
          </a:prstGeom>
          <a:solidFill>
            <a:srgbClr val="5A774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Hỏi &amp; Đáp</a:t>
            </a:r>
          </a:p>
        </p:txBody>
      </p:sp>
      <p:sp>
        <p:nvSpPr>
          <p:cNvPr id="8" name="Sum point 1">
            <a:extLst>
              <a:ext uri="{FF2B5EF4-FFF2-40B4-BE49-F238E27FC236}">
                <a16:creationId xmlns:a16="http://schemas.microsoft.com/office/drawing/2014/main" id="{28B53A84-8EEC-4CCD-41FF-E600BD67F055}"/>
              </a:ext>
            </a:extLst>
          </p:cNvPr>
          <p:cNvSpPr txBox="1"/>
          <p:nvPr/>
        </p:nvSpPr>
        <p:spPr>
          <a:xfrm>
            <a:off x="2489200" y="2819400"/>
            <a:ext cx="14757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Thiết bị, server và app nói chuyện qua MQTT (HiveMQ) và REST API</a:t>
            </a:r>
          </a:p>
        </p:txBody>
      </p:sp>
      <p:sp>
        <p:nvSpPr>
          <p:cNvPr id="9" name="Sum point 2">
            <a:extLst>
              <a:ext uri="{FF2B5EF4-FFF2-40B4-BE49-F238E27FC236}">
                <a16:creationId xmlns:a16="http://schemas.microsoft.com/office/drawing/2014/main" id="{FB27B804-4E59-1191-D10B-BECC4A4534B9}"/>
              </a:ext>
            </a:extLst>
          </p:cNvPr>
          <p:cNvSpPr txBox="1"/>
          <p:nvPr/>
        </p:nvSpPr>
        <p:spPr>
          <a:xfrm>
            <a:off x="2489200" y="4089400"/>
            <a:ext cx="14757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3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Server tự tưới theo ngưỡng; ngưỡng chỉnh được qua app hoặc AI</a:t>
            </a:r>
            <a:endParaRPr lang="en-US" sz="3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  <p:sp>
        <p:nvSpPr>
          <p:cNvPr id="10" name="Sum point 3">
            <a:extLst>
              <a:ext uri="{FF2B5EF4-FFF2-40B4-BE49-F238E27FC236}">
                <a16:creationId xmlns:a16="http://schemas.microsoft.com/office/drawing/2014/main" id="{48558C75-76A1-957F-9C4E-B9C63991D7C9}"/>
              </a:ext>
            </a:extLst>
          </p:cNvPr>
          <p:cNvSpPr txBox="1"/>
          <p:nvPr/>
        </p:nvSpPr>
        <p:spPr>
          <a:xfrm>
            <a:off x="2489200" y="5359400"/>
            <a:ext cx="14757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MCP Server biến API thành tool để AI điều khiển cây bằng lời nói</a:t>
            </a:r>
          </a:p>
        </p:txBody>
      </p:sp>
      <p:sp>
        <p:nvSpPr>
          <p:cNvPr id="11" name="Sum point 4">
            <a:extLst>
              <a:ext uri="{FF2B5EF4-FFF2-40B4-BE49-F238E27FC236}">
                <a16:creationId xmlns:a16="http://schemas.microsoft.com/office/drawing/2014/main" id="{C03D1017-6469-46F8-BC57-604E96E615AC}"/>
              </a:ext>
            </a:extLst>
          </p:cNvPr>
          <p:cNvSpPr txBox="1"/>
          <p:nvPr/>
        </p:nvSpPr>
        <p:spPr>
          <a:xfrm>
            <a:off x="2489200" y="6629400"/>
            <a:ext cx="14757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vi-VN" sz="3000">
                <a:solidFill>
                  <a:srgbClr val="5A774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" panose="020B0502040504020204" pitchFamily="34" charset="0"/>
              </a:rPr>
              <a:t>Cùng cách làm đó áp dụng được cho Jira, Database, Playwright</a:t>
            </a:r>
            <a:endParaRPr lang="en-US" sz="3000">
              <a:solidFill>
                <a:srgbClr val="5A774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915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240"/>
            <a:ext cx="18288000" cy="10256520"/>
          </a:xfrm>
          <a:custGeom>
            <a:avLst/>
            <a:gdLst/>
            <a:ahLst/>
            <a:cxnLst/>
            <a:rect l="l" t="t" r="r" b="b"/>
            <a:pathLst>
              <a:path w="18288000" h="10256520">
                <a:moveTo>
                  <a:pt x="0" y="0"/>
                </a:moveTo>
                <a:lnTo>
                  <a:pt x="18288000" y="0"/>
                </a:lnTo>
                <a:lnTo>
                  <a:pt x="18288000" y="10256520"/>
                </a:lnTo>
                <a:lnTo>
                  <a:pt x="0" y="10256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83000" y="381000"/>
            <a:ext cx="1157691" cy="1261822"/>
          </a:xfrm>
          <a:custGeom>
            <a:avLst/>
            <a:gdLst/>
            <a:ahLst/>
            <a:cxnLst/>
            <a:rect l="l" t="t" r="r" b="b"/>
            <a:pathLst>
              <a:path w="1157691" h="1261822">
                <a:moveTo>
                  <a:pt x="0" y="0"/>
                </a:moveTo>
                <a:lnTo>
                  <a:pt x="1157691" y="0"/>
                </a:lnTo>
                <a:lnTo>
                  <a:pt x="1157691" y="1261822"/>
                </a:lnTo>
                <a:lnTo>
                  <a:pt x="0" y="1261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765300"/>
            <a:ext cx="16230600" cy="113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vi-VN" sz="7200" b="1">
                <a:solidFill>
                  <a:srgbClr val="6D8856"/>
                </a:solidFill>
                <a:latin typeface="Arial" panose="020B0604020202020204" pitchFamily="34" charset="0"/>
                <a:ea typeface="Montserrat Ultra-Bold"/>
                <a:cs typeface="Arial" panose="020B0604020202020204" pitchFamily="34" charset="0"/>
                <a:sym typeface="Arial" panose="020B0604020202020204" pitchFamily="34" charset="0"/>
              </a:rPr>
              <a:t>Cảm ơn mọi người đã lắng nghe</a:t>
            </a:r>
            <a:endParaRPr lang="en-US" sz="7200" b="1">
              <a:solidFill>
                <a:srgbClr val="6D8856"/>
              </a:solidFill>
              <a:latin typeface="Arial" panose="020B0604020202020204" pitchFamily="34" charset="0"/>
              <a:ea typeface="Montserrat Ultra-Bold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2151</Words>
  <Application>Microsoft Office PowerPoint</Application>
  <PresentationFormat>Custom</PresentationFormat>
  <Paragraphs>290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Calibri</vt:lpstr>
      <vt:lpstr>Montserrat Ultra-Bold Italics</vt:lpstr>
      <vt:lpstr>Montserrat</vt:lpstr>
      <vt:lpstr>Noto Sans</vt:lpstr>
      <vt:lpstr>Segoe UI Emoji</vt:lpstr>
      <vt:lpstr>Arial</vt:lpstr>
      <vt:lpstr>Noto Sans Bold Italics</vt:lpstr>
      <vt:lpstr>Montserrat Ultra-Bold</vt:lpstr>
      <vt:lpstr>Consolas</vt:lpstr>
      <vt:lpstr>Aptos</vt:lpstr>
      <vt:lpstr>Montserrat Bold</vt:lpstr>
      <vt:lpstr>Noto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Plant Care System</dc:title>
  <cp:lastModifiedBy>Phong Nguyen</cp:lastModifiedBy>
  <cp:revision>36</cp:revision>
  <dcterms:created xsi:type="dcterms:W3CDTF">2006-08-16T00:00:00Z</dcterms:created>
  <dcterms:modified xsi:type="dcterms:W3CDTF">2026-10-05T14:49:33Z</dcterms:modified>
  <dc:identifier>DAHUY_r9N7w</dc:identifier>
</cp:coreProperties>
</file>